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sldIdLst>
    <p:sldId id="256" r:id="rId2"/>
    <p:sldId id="268" r:id="rId3"/>
    <p:sldId id="269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2" r:id="rId13"/>
    <p:sldId id="273" r:id="rId14"/>
    <p:sldId id="274" r:id="rId15"/>
    <p:sldId id="275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C5C"/>
    <a:srgbClr val="4B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38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A5E4C-049E-705D-1F4F-1027A6BC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540000"/>
            <a:ext cx="9313200" cy="2880000"/>
          </a:xfrm>
        </p:spPr>
        <p:txBody>
          <a:bodyPr anchor="b" anchorCtr="0">
            <a:normAutofit/>
          </a:bodyPr>
          <a:lstStyle>
            <a:lvl1pPr>
              <a:defRPr sz="66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3C1B733-27C6-8799-F122-BF900837E6B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40000" y="3600000"/>
            <a:ext cx="9313199" cy="1878582"/>
          </a:xfrm>
        </p:spPr>
        <p:txBody>
          <a:bodyPr>
            <a:normAutofit/>
          </a:bodyPr>
          <a:lstStyle>
            <a:lvl1pPr>
              <a:buNone/>
              <a:defRPr sz="3600" b="0">
                <a:latin typeface="Arial Nova" panose="020B0504020202020204" pitchFamily="34" charset="0"/>
              </a:defRPr>
            </a:lvl1pPr>
          </a:lstStyle>
          <a:p>
            <a:pPr lvl="0"/>
            <a:r>
              <a:rPr lang="ru-RU" dirty="0"/>
              <a:t>Образец темы лекции</a:t>
            </a:r>
          </a:p>
        </p:txBody>
      </p:sp>
    </p:spTree>
    <p:extLst>
      <p:ext uri="{BB962C8B-B14F-4D97-AF65-F5344CB8AC3E}">
        <p14:creationId xmlns:p14="http://schemas.microsoft.com/office/powerpoint/2010/main" val="911237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у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FCF0D0B-FE7F-2FBA-F295-1ED10077498C}"/>
              </a:ext>
            </a:extLst>
          </p:cNvPr>
          <p:cNvGrpSpPr>
            <a:grpSpLocks noChangeAspect="1"/>
          </p:cNvGrpSpPr>
          <p:nvPr/>
        </p:nvGrpSpPr>
        <p:grpSpPr>
          <a:xfrm>
            <a:off x="3049929" y="720000"/>
            <a:ext cx="6092143" cy="5418000"/>
            <a:chOff x="4244454" y="1872388"/>
            <a:chExt cx="3641678" cy="3238698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7D8A98C9-1BD6-8E2A-E4F5-C0F15BCD4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93" t="670" r="17893" b="851"/>
            <a:stretch>
              <a:fillRect/>
            </a:stretch>
          </p:blipFill>
          <p:spPr>
            <a:xfrm>
              <a:off x="4244454" y="2591086"/>
              <a:ext cx="1656000" cy="2520000"/>
            </a:xfrm>
            <a:prstGeom prst="rect">
              <a:avLst/>
            </a:prstGeom>
          </p:spPr>
        </p:pic>
        <p:sp>
          <p:nvSpPr>
            <p:cNvPr id="6" name="Облачко с текстом: овальное 5">
              <a:extLst>
                <a:ext uri="{FF2B5EF4-FFF2-40B4-BE49-F238E27FC236}">
                  <a16:creationId xmlns:a16="http://schemas.microsoft.com/office/drawing/2014/main" id="{A5683F8A-FD9E-8ED7-944A-9DA2423A982A}"/>
                </a:ext>
              </a:extLst>
            </p:cNvPr>
            <p:cNvSpPr/>
            <p:nvPr userDrawn="1"/>
          </p:nvSpPr>
          <p:spPr>
            <a:xfrm>
              <a:off x="5552366" y="1872388"/>
              <a:ext cx="2333766" cy="980814"/>
            </a:xfrm>
            <a:prstGeom prst="wedgeEllipseCallout">
              <a:avLst>
                <a:gd name="adj1" fmla="val -34868"/>
                <a:gd name="adj2" fmla="val 72935"/>
              </a:avLst>
            </a:prstGeom>
            <a:noFill/>
            <a:ln w="12700" cap="flat" cmpd="sng">
              <a:solidFill>
                <a:srgbClr val="002C5C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-411140 w 2333766"/>
                        <a:gd name="connsiteY0" fmla="*/ 953283 h 980814"/>
                        <a:gd name="connsiteX1" fmla="*/ 100162 w 2333766"/>
                        <a:gd name="connsiteY1" fmla="*/ 689193 h 980814"/>
                        <a:gd name="connsiteX2" fmla="*/ 1047235 w 2333766"/>
                        <a:gd name="connsiteY2" fmla="*/ 2585 h 980814"/>
                        <a:gd name="connsiteX3" fmla="*/ 2110384 w 2333766"/>
                        <a:gd name="connsiteY3" fmla="*/ 201849 h 980814"/>
                        <a:gd name="connsiteX4" fmla="*/ 1345483 w 2333766"/>
                        <a:gd name="connsiteY4" fmla="*/ 975036 h 980814"/>
                        <a:gd name="connsiteX5" fmla="*/ 355023 w 2333766"/>
                        <a:gd name="connsiteY5" fmla="*/ 842659 h 980814"/>
                        <a:gd name="connsiteX6" fmla="*/ -43382 w 2333766"/>
                        <a:gd name="connsiteY6" fmla="*/ 900183 h 980814"/>
                        <a:gd name="connsiteX7" fmla="*/ -411140 w 2333766"/>
                        <a:gd name="connsiteY7" fmla="*/ 953283 h 9808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33766" h="980814" extrusionOk="0">
                          <a:moveTo>
                            <a:pt x="-411140" y="953283"/>
                          </a:moveTo>
                          <a:cubicBezTo>
                            <a:pt x="-291143" y="824317"/>
                            <a:pt x="-7964" y="771021"/>
                            <a:pt x="100162" y="689193"/>
                          </a:cubicBezTo>
                          <a:cubicBezTo>
                            <a:pt x="-100816" y="408366"/>
                            <a:pt x="239956" y="-42487"/>
                            <a:pt x="1047235" y="2585"/>
                          </a:cubicBezTo>
                          <a:cubicBezTo>
                            <a:pt x="1399277" y="-62107"/>
                            <a:pt x="1861918" y="68470"/>
                            <a:pt x="2110384" y="201849"/>
                          </a:cubicBezTo>
                          <a:cubicBezTo>
                            <a:pt x="2626225" y="646861"/>
                            <a:pt x="2171860" y="800364"/>
                            <a:pt x="1345483" y="975036"/>
                          </a:cubicBezTo>
                          <a:cubicBezTo>
                            <a:pt x="1000772" y="937289"/>
                            <a:pt x="558191" y="910595"/>
                            <a:pt x="355023" y="842659"/>
                          </a:cubicBezTo>
                          <a:cubicBezTo>
                            <a:pt x="263009" y="894076"/>
                            <a:pt x="58400" y="849555"/>
                            <a:pt x="-43382" y="900183"/>
                          </a:cubicBezTo>
                          <a:cubicBezTo>
                            <a:pt x="-145164" y="950811"/>
                            <a:pt x="-289861" y="901273"/>
                            <a:pt x="-411140" y="95328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ru-RU" sz="1400" b="1" dirty="0">
                <a:solidFill>
                  <a:srgbClr val="002C5C"/>
                </a:solidFill>
                <a:latin typeface="Arial Nova Light" panose="020B0304020202020204" pitchFamily="34" charset="0"/>
              </a:endParaRPr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4CE1E0FC-C23E-5B7D-9740-925C75E461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7928" y="720000"/>
            <a:ext cx="3904144" cy="1640798"/>
          </a:xfrm>
        </p:spPr>
        <p:txBody>
          <a:bodyPr anchor="ctr" anchorCtr="0">
            <a:noAutofit/>
          </a:bodyPr>
          <a:lstStyle>
            <a:lvl1pPr algn="ctr">
              <a:buNone/>
              <a:defRPr sz="1400"/>
            </a:lvl1pPr>
          </a:lstStyle>
          <a:p>
            <a:pPr lvl="0"/>
            <a:r>
              <a:rPr lang="ru-RU" dirty="0"/>
              <a:t>Образец возмущения</a:t>
            </a:r>
          </a:p>
        </p:txBody>
      </p:sp>
    </p:spTree>
    <p:extLst>
      <p:ext uri="{BB962C8B-B14F-4D97-AF65-F5344CB8AC3E}">
        <p14:creationId xmlns:p14="http://schemas.microsoft.com/office/powerpoint/2010/main" val="194880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C679734-4794-20B8-6488-0A4FB168AA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400" y="5058000"/>
            <a:ext cx="10393200" cy="1260000"/>
          </a:xfrm>
          <a:prstGeom prst="rect">
            <a:avLst/>
          </a:prstGeom>
        </p:spPr>
        <p:txBody>
          <a:bodyPr anchor="ctr" anchorCtr="1"/>
          <a:lstStyle>
            <a:lvl1pPr>
              <a:defRPr sz="4400">
                <a:latin typeface="Arial Nova Light" panose="020B0304020202020204" pitchFamily="34" charset="0"/>
              </a:defRPr>
            </a:lvl1pPr>
          </a:lstStyle>
          <a:p>
            <a:r>
              <a:rPr lang="ru-RU" dirty="0"/>
              <a:t>Образец раздела лекции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788ABC3-0FA5-B3C3-A19F-A67D9299DF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51275" y="360000"/>
            <a:ext cx="4489450" cy="442800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2346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E1147-6C34-C366-3E86-917D39B96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00" y="360000"/>
            <a:ext cx="11473200" cy="9000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ABD0D-3BAE-209D-0250-5F76D9C1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620000"/>
            <a:ext cx="11473200" cy="487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794251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E1147-6C34-C366-3E86-917D39B96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00" y="360000"/>
            <a:ext cx="11473200" cy="9000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ABD0D-3BAE-209D-0250-5F76D9C1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620000"/>
            <a:ext cx="5736600" cy="487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2C62AA1-DEEC-A05F-C529-474401F2896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8400" y="1620000"/>
            <a:ext cx="5736600" cy="487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63769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E1147-6C34-C366-3E86-917D39B96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400" y="360000"/>
            <a:ext cx="11473200" cy="720000"/>
          </a:xfrm>
          <a:prstGeom prst="rect">
            <a:avLst/>
          </a:prstGeom>
        </p:spPr>
        <p:txBody>
          <a:bodyPr/>
          <a:lstStyle>
            <a:lvl1pPr>
              <a:defRPr sz="2800" b="0"/>
            </a:lvl1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ABD0D-3BAE-209D-0250-5F76D9C1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440000"/>
            <a:ext cx="11473200" cy="505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43324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дзаголовок и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E1147-6C34-C366-3E86-917D39B96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400" y="360000"/>
            <a:ext cx="11473200" cy="720000"/>
          </a:xfrm>
          <a:prstGeom prst="rect">
            <a:avLst/>
          </a:prstGeom>
        </p:spPr>
        <p:txBody>
          <a:bodyPr/>
          <a:lstStyle>
            <a:lvl1pPr>
              <a:defRPr sz="2800" b="0"/>
            </a:lvl1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ABD0D-3BAE-209D-0250-5F76D9C1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440000"/>
            <a:ext cx="5736600" cy="505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5A912A0-90BE-998B-D452-B3DCE2DE141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8400" y="1440000"/>
            <a:ext cx="5736600" cy="505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35299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дзаголовок, объект и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A46960-AB20-D254-F51B-70A990D48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51200" y="360000"/>
            <a:ext cx="7182000" cy="613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390751-A8D3-476E-318B-18222D637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980000"/>
            <a:ext cx="3932237" cy="451225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655A0497-2E6C-9974-5FB4-A403A3F197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400" y="360000"/>
            <a:ext cx="3932237" cy="1260000"/>
          </a:xfrm>
        </p:spPr>
        <p:txBody>
          <a:bodyPr/>
          <a:lstStyle>
            <a:lvl1pPr>
              <a:defRPr sz="2800"/>
            </a:lvl1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0059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BFCCA98C-E916-B193-7EC7-B3B067257B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0000" y="360000"/>
            <a:ext cx="11473200" cy="613800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90022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0D1694-6482-36C1-8D6C-118CA8BE9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BB5422-696B-7CFE-8A40-47B03F7AB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59D40A-E635-5578-5CFB-A7EE988A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45AD5-22B4-4A04-ACDC-9E247E4F256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39E7F9-5BCB-C38F-0BFC-1715A606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528CE-A0EE-3FD3-6155-DE197F1C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DB9E-B347-447B-BF6C-331888CA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04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80000">
              <a:schemeClr val="bg1"/>
            </a:gs>
            <a:gs pos="0">
              <a:srgbClr val="E5F8FF"/>
            </a:gs>
            <a:gs pos="100000">
              <a:srgbClr val="C8DBEA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1BB54EBD-4A78-FE50-1339-CF24E75CB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400" y="1620000"/>
            <a:ext cx="11473200" cy="4878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480F1380-F6B9-9578-DC30-CBF734429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00" y="360000"/>
            <a:ext cx="11473200" cy="90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3007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rgbClr val="002C5C"/>
          </a:solidFill>
          <a:latin typeface="Arial Nova Light" panose="020B0304020202020204" pitchFamily="34" charset="0"/>
          <a:ea typeface="Calibri Light" panose="020F0302020204030204" pitchFamily="34" charset="0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002C5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C5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C5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C5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002C5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A67FA-9D02-EE83-DDEE-37578120C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Технологии программирования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D87878-9B5B-553F-1A3C-563DD7129B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3692343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A6015-328E-4342-A871-8DF4C2CA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4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675323-55A6-E6AD-64A4-2BD8DDF01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624" y="1919088"/>
            <a:ext cx="2768272" cy="4218912"/>
          </a:xfrm>
          <a:prstGeom prst="rect">
            <a:avLst/>
          </a:prstGeom>
        </p:spPr>
      </p:pic>
      <p:sp>
        <p:nvSpPr>
          <p:cNvPr id="9" name="Облачко с текстом: овальное 8">
            <a:extLst>
              <a:ext uri="{FF2B5EF4-FFF2-40B4-BE49-F238E27FC236}">
                <a16:creationId xmlns:a16="http://schemas.microsoft.com/office/drawing/2014/main" id="{495F7449-BB0F-40E3-599C-FBE2C2B94E46}"/>
              </a:ext>
            </a:extLst>
          </p:cNvPr>
          <p:cNvSpPr/>
          <p:nvPr/>
        </p:nvSpPr>
        <p:spPr>
          <a:xfrm>
            <a:off x="5237928" y="719999"/>
            <a:ext cx="3904144" cy="1640797"/>
          </a:xfrm>
          <a:prstGeom prst="wedgeEllipseCallout">
            <a:avLst>
              <a:gd name="adj1" fmla="val -34749"/>
              <a:gd name="adj2" fmla="val 72558"/>
            </a:avLst>
          </a:prstGeom>
          <a:noFill/>
          <a:ln w="12700">
            <a:solidFill>
              <a:srgbClr val="002C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 почему я не могу</a:t>
            </a:r>
            <a:r>
              <a:rPr lang="en-US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написать полотно текста в</a:t>
            </a:r>
            <a:r>
              <a:rPr lang="en-US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одном файле, и хранить данные в другом файле?!</a:t>
            </a:r>
          </a:p>
        </p:txBody>
      </p:sp>
    </p:spTree>
    <p:extLst>
      <p:ext uri="{BB962C8B-B14F-4D97-AF65-F5344CB8AC3E}">
        <p14:creationId xmlns:p14="http://schemas.microsoft.com/office/powerpoint/2010/main" val="533427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D33781-A02F-398E-42FC-B1D1FDC2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чем будем говорить в семестре?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5AED36-0830-9D33-D31C-7D10C30D4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dirty="0"/>
              <a:t>история языков программирования;</a:t>
            </a:r>
          </a:p>
          <a:p>
            <a:pPr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dirty="0"/>
              <a:t>короткое введение в </a:t>
            </a:r>
            <a:r>
              <a:rPr lang="en-US" dirty="0"/>
              <a:t>Java;</a:t>
            </a:r>
          </a:p>
          <a:p>
            <a:pPr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dirty="0"/>
              <a:t>системы сборки;</a:t>
            </a:r>
            <a:endParaRPr lang="en-US" dirty="0"/>
          </a:p>
          <a:p>
            <a:pPr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dirty="0"/>
              <a:t>взаимодействие с базами данных;</a:t>
            </a:r>
          </a:p>
          <a:p>
            <a:pPr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dirty="0"/>
              <a:t>взаимодействие по сети;</a:t>
            </a:r>
          </a:p>
          <a:p>
            <a:pPr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dirty="0"/>
              <a:t>фреймворк </a:t>
            </a:r>
            <a:r>
              <a:rPr lang="en-US" dirty="0"/>
              <a:t>Spring;</a:t>
            </a:r>
          </a:p>
          <a:p>
            <a:pPr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dirty="0"/>
              <a:t>аспектно-ориентированное программирование;</a:t>
            </a:r>
          </a:p>
          <a:p>
            <a:pPr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dirty="0"/>
              <a:t>безопасность</a:t>
            </a:r>
            <a:r>
              <a:rPr lang="en-US" dirty="0"/>
              <a:t>;</a:t>
            </a:r>
          </a:p>
          <a:p>
            <a:pPr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dirty="0"/>
              <a:t>память и сборка мусора;</a:t>
            </a:r>
          </a:p>
          <a:p>
            <a:pPr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dirty="0"/>
              <a:t>брокеры сообщений;</a:t>
            </a:r>
          </a:p>
        </p:txBody>
      </p:sp>
    </p:spTree>
    <p:extLst>
      <p:ext uri="{BB962C8B-B14F-4D97-AF65-F5344CB8AC3E}">
        <p14:creationId xmlns:p14="http://schemas.microsoft.com/office/powerpoint/2010/main" val="94806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5C0ED-AE62-D68D-01D2-F638B1E5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языков программирования</a:t>
            </a:r>
          </a:p>
        </p:txBody>
      </p:sp>
      <p:pic>
        <p:nvPicPr>
          <p:cNvPr id="19" name="Рисунок 18" descr="Изображение выглядит как силуэт, черный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8584BC-C3FF-28CC-483C-28F5791428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" b="603"/>
          <a:stretch>
            <a:fillRect/>
          </a:stretch>
        </p:blipFill>
        <p:spPr>
          <a:xfrm>
            <a:off x="899400" y="1541850"/>
            <a:ext cx="10393200" cy="3774301"/>
          </a:xfrm>
        </p:spPr>
      </p:pic>
    </p:spTree>
    <p:extLst>
      <p:ext uri="{BB962C8B-B14F-4D97-AF65-F5344CB8AC3E}">
        <p14:creationId xmlns:p14="http://schemas.microsoft.com/office/powerpoint/2010/main" val="403830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61EC583-970F-B64A-63D8-B09E09758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980000"/>
            <a:ext cx="5736000" cy="451225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если очень грубо, то это определенным образом продырявленный кусок картона;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наиболее распространенный формат от </a:t>
            </a:r>
            <a:r>
              <a:rPr lang="en-US" sz="2000" dirty="0"/>
              <a:t>IBM</a:t>
            </a:r>
            <a:r>
              <a:rPr lang="ru-RU" sz="2000" dirty="0"/>
              <a:t>: </a:t>
            </a:r>
            <a:r>
              <a:rPr lang="ru-RU" sz="2000" dirty="0">
                <a:sym typeface="Symbol" panose="05050102010706020507" pitchFamily="18" charset="2"/>
              </a:rPr>
              <a:t>длина  18,7 см, ширина  8,2 см;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использовались в первых «компьютерах»: аналитической машине Чарлза Бэббиджа, описанной им в 1851 году, а изобретенной его сыном Генри в 1906 году, и интеллектуальных машинах Семена Николаевича Корсакова в 1832 году;</a:t>
            </a:r>
            <a:endParaRPr lang="ru-RU" sz="2000" dirty="0">
              <a:sym typeface="Symbol" panose="05050102010706020507" pitchFamily="18" charset="2"/>
            </a:endParaRP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изначально изобретены для ткацких станков.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1BBE647-464F-E253-A377-EB0599B7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Перфокарты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DF54C88-F43E-BB35-EAE8-424B44DEAC78}"/>
              </a:ext>
            </a:extLst>
          </p:cNvPr>
          <p:cNvGrpSpPr/>
          <p:nvPr/>
        </p:nvGrpSpPr>
        <p:grpSpPr>
          <a:xfrm>
            <a:off x="6096000" y="1644547"/>
            <a:ext cx="5472853" cy="4863803"/>
            <a:chOff x="2998211" y="1079999"/>
            <a:chExt cx="6096448" cy="5418001"/>
          </a:xfrm>
        </p:grpSpPr>
        <p:pic>
          <p:nvPicPr>
            <p:cNvPr id="6" name="Объект 4" descr="Изображение выглядит как черный, темнот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C39CE6A-A6CC-BC55-3312-66CFC290C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211" y="2279088"/>
              <a:ext cx="2768272" cy="4218912"/>
            </a:xfrm>
            <a:prstGeom prst="rect">
              <a:avLst/>
            </a:prstGeom>
          </p:spPr>
        </p:pic>
        <p:sp>
          <p:nvSpPr>
            <p:cNvPr id="7" name="Облачко с текстом: овальное 6">
              <a:extLst>
                <a:ext uri="{FF2B5EF4-FFF2-40B4-BE49-F238E27FC236}">
                  <a16:creationId xmlns:a16="http://schemas.microsoft.com/office/drawing/2014/main" id="{196DF664-FBD3-8333-A8DD-A2E71F947222}"/>
                </a:ext>
              </a:extLst>
            </p:cNvPr>
            <p:cNvSpPr/>
            <p:nvPr/>
          </p:nvSpPr>
          <p:spPr>
            <a:xfrm>
              <a:off x="5190515" y="1079999"/>
              <a:ext cx="3904144" cy="1640797"/>
            </a:xfrm>
            <a:prstGeom prst="wedgeEllipseCallout">
              <a:avLst>
                <a:gd name="adj1" fmla="val -34749"/>
                <a:gd name="adj2" fmla="val 72558"/>
              </a:avLst>
            </a:prstGeom>
            <a:noFill/>
            <a:ln w="12700">
              <a:solidFill>
                <a:srgbClr val="002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Серьезно?! Это точно про язык программирования?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9645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A376-627C-8BBA-9513-45EA349D0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71C3892-A0A2-8272-A53F-F759ADE8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980000"/>
            <a:ext cx="5736000" cy="451225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представляет из себя набор операций и ячеек памяти, но записанный только нулями и единицами;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иногда «кодом» выступали физические переключатели на корпусе ЭВМ, (но данные все же уже вводились отдельно),</a:t>
            </a:r>
            <a:br>
              <a:rPr lang="ru-RU" sz="2000" dirty="0"/>
            </a:br>
            <a:r>
              <a:rPr lang="ru-RU" sz="2000" i="1" u="sng" dirty="0"/>
              <a:t>правда через перфокарты</a:t>
            </a:r>
            <a:r>
              <a:rPr lang="ru-RU" sz="2000" dirty="0"/>
              <a:t>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самые быстрые языки программирования, так как «код» интерпретируется сразу самим </a:t>
            </a:r>
            <a:r>
              <a:rPr lang="en-US" sz="2000" dirty="0"/>
              <a:t>CPU</a:t>
            </a:r>
            <a:r>
              <a:rPr lang="ru-RU" sz="2000" dirty="0"/>
              <a:t>, именно к этому виду компиляторы и интерпретаторы, трансляторы, ассемблеры сводят код, написанный на любом другом языке программирования;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специфичен для архитектуры процессора</a:t>
            </a:r>
            <a:r>
              <a:rPr lang="ru-RU" sz="2000" dirty="0">
                <a:sym typeface="Symbol" panose="05050102010706020507" pitchFamily="18" charset="2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появились в начале 1940-х.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C04E4CA-5421-CCEC-4C34-579EEF33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</a:t>
            </a:r>
            <a:r>
              <a:rPr lang="en-US" dirty="0"/>
              <a:t>GL, </a:t>
            </a:r>
            <a:r>
              <a:rPr lang="ru-RU" dirty="0"/>
              <a:t>машинный язык или двоичный язык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227352B-9276-F908-4E9B-A65C0300CC00}"/>
              </a:ext>
            </a:extLst>
          </p:cNvPr>
          <p:cNvGrpSpPr/>
          <p:nvPr/>
        </p:nvGrpSpPr>
        <p:grpSpPr>
          <a:xfrm>
            <a:off x="6096000" y="1644547"/>
            <a:ext cx="5472853" cy="4863803"/>
            <a:chOff x="2998211" y="1079999"/>
            <a:chExt cx="6096448" cy="5418001"/>
          </a:xfrm>
        </p:grpSpPr>
        <p:pic>
          <p:nvPicPr>
            <p:cNvPr id="6" name="Объект 4" descr="Изображение выглядит как черный, темнот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683242F-0831-FC42-5CC6-717EB9EAC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211" y="2279088"/>
              <a:ext cx="2768272" cy="4218912"/>
            </a:xfrm>
            <a:prstGeom prst="rect">
              <a:avLst/>
            </a:prstGeom>
          </p:spPr>
        </p:pic>
        <p:sp>
          <p:nvSpPr>
            <p:cNvPr id="7" name="Облачко с текстом: овальное 6">
              <a:extLst>
                <a:ext uri="{FF2B5EF4-FFF2-40B4-BE49-F238E27FC236}">
                  <a16:creationId xmlns:a16="http://schemas.microsoft.com/office/drawing/2014/main" id="{19A5FA4F-77CD-A356-5FB4-8E96B2734964}"/>
                </a:ext>
              </a:extLst>
            </p:cNvPr>
            <p:cNvSpPr/>
            <p:nvPr/>
          </p:nvSpPr>
          <p:spPr>
            <a:xfrm>
              <a:off x="5190515" y="1079999"/>
              <a:ext cx="3904144" cy="1640797"/>
            </a:xfrm>
            <a:prstGeom prst="wedgeEllipseCallout">
              <a:avLst>
                <a:gd name="adj1" fmla="val -34749"/>
                <a:gd name="adj2" fmla="val 72558"/>
              </a:avLst>
            </a:prstGeom>
            <a:noFill/>
            <a:ln w="12700">
              <a:solidFill>
                <a:srgbClr val="002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Та-ак, допустим…</a:t>
              </a:r>
              <a:br>
                <a:rPr lang="ru-RU" sz="16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Но почему я должен писать ноликами и единицами?! </a:t>
              </a:r>
              <a:br>
                <a:rPr lang="ru-RU" sz="16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Я, что, робот?!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317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7FBBE-44DB-A438-BDDE-677BD1F6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548B6DD-39FD-B1F6-EAC2-7527FE8CE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980000"/>
            <a:ext cx="5736000" cy="451225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>
                <a:sym typeface="Symbol" panose="05050102010706020507" pitchFamily="18" charset="2"/>
              </a:rPr>
              <a:t>почти тоже самое, что 1</a:t>
            </a:r>
            <a:r>
              <a:rPr lang="en-US" sz="2000" dirty="0">
                <a:sym typeface="Symbol" panose="05050102010706020507" pitchFamily="18" charset="2"/>
              </a:rPr>
              <a:t>GL</a:t>
            </a:r>
            <a:r>
              <a:rPr lang="ru-RU" sz="2000" dirty="0">
                <a:sym typeface="Symbol" panose="05050102010706020507" pitchFamily="18" charset="2"/>
              </a:rPr>
              <a:t>, но избавленный от необходимости писать только нулями и единицами, предлагающий «человеческие» названия для операций, являющиеся сокращением от английских слов;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>
                <a:sym typeface="Symbol" panose="05050102010706020507" pitchFamily="18" charset="2"/>
              </a:rPr>
              <a:t>ячейки памяти начали «обзывать» цифрами в шестнадцатеричной системе счисления;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>
                <a:sym typeface="Symbol" panose="05050102010706020507" pitchFamily="18" charset="2"/>
              </a:rPr>
              <a:t>процесс перевода «человеческих» команд и ячеек памяти в двоичную систему счисления выполняется служебной программой, называемой ассемблером; 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>
                <a:sym typeface="Symbol" panose="05050102010706020507" pitchFamily="18" charset="2"/>
              </a:rPr>
              <a:t>разработан Эндрю и Кэтлин Бут в 1947 году;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>
                <a:sym typeface="Symbol" panose="05050102010706020507" pitchFamily="18" charset="2"/>
              </a:rPr>
              <a:t>все еще специфичен для архитектуры процессора.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542B259-399B-396E-96D3-B26D7A520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</a:t>
            </a:r>
            <a:r>
              <a:rPr lang="en-US" dirty="0"/>
              <a:t>GL</a:t>
            </a:r>
            <a:r>
              <a:rPr lang="ru-RU" dirty="0"/>
              <a:t> или ассемблерный код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D479AD6-3A4C-10B1-FB36-205DF1C760A0}"/>
              </a:ext>
            </a:extLst>
          </p:cNvPr>
          <p:cNvGrpSpPr/>
          <p:nvPr/>
        </p:nvGrpSpPr>
        <p:grpSpPr>
          <a:xfrm>
            <a:off x="6096000" y="1644547"/>
            <a:ext cx="5472853" cy="4863803"/>
            <a:chOff x="2998211" y="1079999"/>
            <a:chExt cx="6096448" cy="5418001"/>
          </a:xfrm>
        </p:grpSpPr>
        <p:pic>
          <p:nvPicPr>
            <p:cNvPr id="6" name="Объект 4" descr="Изображение выглядит как черный, темнот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767FEAF7-CE30-9DB9-BAAF-05BCAF52F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211" y="2279088"/>
              <a:ext cx="2768272" cy="4218912"/>
            </a:xfrm>
            <a:prstGeom prst="rect">
              <a:avLst/>
            </a:prstGeom>
          </p:spPr>
        </p:pic>
        <p:sp>
          <p:nvSpPr>
            <p:cNvPr id="7" name="Облачко с текстом: овальное 6">
              <a:extLst>
                <a:ext uri="{FF2B5EF4-FFF2-40B4-BE49-F238E27FC236}">
                  <a16:creationId xmlns:a16="http://schemas.microsoft.com/office/drawing/2014/main" id="{BF4B7A81-4BFD-EB49-94C7-1C0FBC6CD871}"/>
                </a:ext>
              </a:extLst>
            </p:cNvPr>
            <p:cNvSpPr/>
            <p:nvPr/>
          </p:nvSpPr>
          <p:spPr>
            <a:xfrm>
              <a:off x="5190515" y="1079999"/>
              <a:ext cx="3904144" cy="1640797"/>
            </a:xfrm>
            <a:prstGeom prst="wedgeEllipseCallout">
              <a:avLst>
                <a:gd name="adj1" fmla="val -34749"/>
                <a:gd name="adj2" fmla="val 72558"/>
              </a:avLst>
            </a:prstGeom>
            <a:noFill/>
            <a:ln w="12700">
              <a:solidFill>
                <a:srgbClr val="002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6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Вот это уже круто! </a:t>
              </a:r>
              <a:br>
                <a:rPr lang="ru-RU" sz="16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Но переписывать свою программу по 10 раз я не собираюсь!!!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5364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1C005-67A1-9B0F-CBAF-79096EF9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ECF24B8-D8B9-C3F9-4BF8-7902875EF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980000"/>
            <a:ext cx="5736000" cy="451225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>
                <a:sym typeface="Symbol" panose="05050102010706020507" pitchFamily="18" charset="2"/>
              </a:rPr>
              <a:t>к языкам третьего уровня относятся все языки, кроме обозначенных выше;</a:t>
            </a:r>
          </a:p>
          <a:p>
            <a:pPr marL="342900" indent="-342900">
              <a:buClr>
                <a:srgbClr val="002C5C"/>
              </a:buClr>
              <a:buFont typeface="Arial" panose="020B0604020202020204" pitchFamily="34" charset="0"/>
              <a:buChar char="‒"/>
            </a:pPr>
            <a:r>
              <a:rPr lang="ru-RU" sz="2000" dirty="0">
                <a:sym typeface="Symbol" panose="05050102010706020507" pitchFamily="18" charset="2"/>
              </a:rPr>
              <a:t>благодаря более высокому уровню абстракции пропала зависимость от архитектуры процессора, языки стали еще более «человеческими», а до машинного кода появилась еще одна прослойка преобразования исходного кода: компиляция, интерпретация или совместно, </a:t>
            </a:r>
            <a:r>
              <a:rPr lang="ru-RU" sz="2000" i="1" u="sng" dirty="0">
                <a:sym typeface="Symbol" panose="05050102010706020507" pitchFamily="18" charset="2"/>
              </a:rPr>
              <a:t>правда компиляторы и интерпретаторы остались специфичными от архитектуры процессора</a:t>
            </a:r>
            <a:r>
              <a:rPr lang="ru-RU" sz="2000" dirty="0">
                <a:sym typeface="Symbol" panose="05050102010706020507" pitchFamily="18" charset="2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>
                <a:sym typeface="Symbol" panose="05050102010706020507" pitchFamily="18" charset="2"/>
              </a:rPr>
              <a:t>первым языком третьего поколения стал </a:t>
            </a:r>
            <a:r>
              <a:rPr lang="en-US" sz="2000" dirty="0">
                <a:sym typeface="Symbol" panose="05050102010706020507" pitchFamily="18" charset="2"/>
              </a:rPr>
              <a:t>Fortran </a:t>
            </a:r>
            <a:r>
              <a:rPr lang="ru-RU" sz="2000" dirty="0">
                <a:sym typeface="Symbol" panose="05050102010706020507" pitchFamily="18" charset="2"/>
              </a:rPr>
              <a:t>в 1957 году.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F784DB4-FB3D-9EBD-97C9-363404E52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</a:t>
            </a:r>
            <a:r>
              <a:rPr lang="en-US" dirty="0"/>
              <a:t>GL</a:t>
            </a:r>
            <a:r>
              <a:rPr lang="ru-RU" dirty="0"/>
              <a:t> или высокоуровневые языки программирования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2BE8881-FA33-3DA4-DD61-D024902A133E}"/>
              </a:ext>
            </a:extLst>
          </p:cNvPr>
          <p:cNvGrpSpPr/>
          <p:nvPr/>
        </p:nvGrpSpPr>
        <p:grpSpPr>
          <a:xfrm>
            <a:off x="6096000" y="1644547"/>
            <a:ext cx="5472853" cy="4863803"/>
            <a:chOff x="2998211" y="1079999"/>
            <a:chExt cx="6096448" cy="5418001"/>
          </a:xfrm>
        </p:grpSpPr>
        <p:pic>
          <p:nvPicPr>
            <p:cNvPr id="6" name="Объект 4" descr="Изображение выглядит как черный, темнот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CE653B61-982B-9F46-16AF-7C3B65BA8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211" y="2279088"/>
              <a:ext cx="2768272" cy="4218912"/>
            </a:xfrm>
            <a:prstGeom prst="rect">
              <a:avLst/>
            </a:prstGeom>
          </p:spPr>
        </p:pic>
        <p:sp>
          <p:nvSpPr>
            <p:cNvPr id="7" name="Облачко с текстом: овальное 6">
              <a:extLst>
                <a:ext uri="{FF2B5EF4-FFF2-40B4-BE49-F238E27FC236}">
                  <a16:creationId xmlns:a16="http://schemas.microsoft.com/office/drawing/2014/main" id="{DA804E4D-0B55-A577-445E-BE8EE8A91E71}"/>
                </a:ext>
              </a:extLst>
            </p:cNvPr>
            <p:cNvSpPr/>
            <p:nvPr/>
          </p:nvSpPr>
          <p:spPr>
            <a:xfrm>
              <a:off x="5190515" y="1079999"/>
              <a:ext cx="3904144" cy="1640797"/>
            </a:xfrm>
            <a:prstGeom prst="wedgeEllipseCallout">
              <a:avLst>
                <a:gd name="adj1" fmla="val -34749"/>
                <a:gd name="adj2" fmla="val 72558"/>
              </a:avLst>
            </a:prstGeom>
            <a:noFill/>
            <a:ln w="12700">
              <a:solidFill>
                <a:srgbClr val="002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 можно больше конкретики!?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733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7974-A681-A2C6-C0A3-675A8CB2B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FF0F1EBE-5579-1D0B-766F-F191B4D61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980000"/>
            <a:ext cx="5736000" cy="451225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‒"/>
            </a:pPr>
            <a:r>
              <a:rPr lang="en-US" sz="2000" dirty="0">
                <a:sym typeface="Symbol" panose="05050102010706020507" pitchFamily="18" charset="2"/>
              </a:rPr>
              <a:t>C</a:t>
            </a:r>
            <a:r>
              <a:rPr lang="ru-RU" sz="2000" dirty="0">
                <a:sym typeface="Symbol" panose="05050102010706020507" pitchFamily="18" charset="2"/>
              </a:rPr>
              <a:t>: мощь, эффективность, структурированность и относительно легкое изучение, разработан Денисом Ритчи в 1972 году</a:t>
            </a:r>
            <a:r>
              <a:rPr lang="en-US" sz="2000" dirty="0">
                <a:sym typeface="Symbol" panose="05050102010706020507" pitchFamily="18" charset="2"/>
              </a:rPr>
              <a:t>;</a:t>
            </a:r>
            <a:endParaRPr lang="ru-RU" sz="2000" dirty="0">
              <a:sym typeface="Symbol" panose="05050102010706020507" pitchFamily="18" charset="2"/>
            </a:endParaRP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en-US" sz="2000" dirty="0">
                <a:sym typeface="Symbol" panose="05050102010706020507" pitchFamily="18" charset="2"/>
              </a:rPr>
              <a:t>C</a:t>
            </a:r>
            <a:r>
              <a:rPr lang="ru-RU" sz="2000" dirty="0">
                <a:sym typeface="Symbol" panose="05050102010706020507" pitchFamily="18" charset="2"/>
              </a:rPr>
              <a:t>++: С + возможности ООП, разработан Бьерном Страуструпом в 1983 году</a:t>
            </a:r>
            <a:r>
              <a:rPr lang="en-US" sz="2000" dirty="0">
                <a:sym typeface="Symbol" panose="05050102010706020507" pitchFamily="18" charset="2"/>
              </a:rPr>
              <a:t>;</a:t>
            </a:r>
            <a:endParaRPr lang="ru-RU" sz="2000" dirty="0">
              <a:sym typeface="Symbol" panose="05050102010706020507" pitchFamily="18" charset="2"/>
            </a:endParaRP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en-US" sz="2000" dirty="0">
                <a:sym typeface="Symbol" panose="05050102010706020507" pitchFamily="18" charset="2"/>
              </a:rPr>
              <a:t>Java / C#</a:t>
            </a:r>
            <a:r>
              <a:rPr lang="ru-RU" sz="2000" dirty="0">
                <a:sym typeface="Symbol" panose="05050102010706020507" pitchFamily="18" charset="2"/>
              </a:rPr>
              <a:t>: наследники </a:t>
            </a:r>
            <a:r>
              <a:rPr lang="en-US" sz="2000" dirty="0">
                <a:sym typeface="Symbol" panose="05050102010706020507" pitchFamily="18" charset="2"/>
              </a:rPr>
              <a:t>C++</a:t>
            </a:r>
            <a:r>
              <a:rPr lang="ru-RU" sz="2000" dirty="0">
                <a:sym typeface="Symbol" panose="05050102010706020507" pitchFamily="18" charset="2"/>
              </a:rPr>
              <a:t>, но менее эффективные, но более кроссплатформенные за счет </a:t>
            </a:r>
            <a:r>
              <a:rPr lang="ru-RU" sz="2000" b="1" dirty="0">
                <a:sym typeface="Symbol" panose="05050102010706020507" pitchFamily="18" charset="2"/>
              </a:rPr>
              <a:t>байт-кода</a:t>
            </a:r>
            <a:r>
              <a:rPr lang="ru-RU" sz="2000" dirty="0">
                <a:sym typeface="Symbol" panose="05050102010706020507" pitchFamily="18" charset="2"/>
              </a:rPr>
              <a:t>, в который компилируется исходный код, и его интерпретации на </a:t>
            </a:r>
            <a:r>
              <a:rPr lang="ru-RU" sz="2000" b="1" dirty="0">
                <a:sym typeface="Symbol" panose="05050102010706020507" pitchFamily="18" charset="2"/>
              </a:rPr>
              <a:t>виртуальной машине</a:t>
            </a:r>
            <a:r>
              <a:rPr lang="en-US" sz="2000" dirty="0">
                <a:sym typeface="Symbol" panose="05050102010706020507" pitchFamily="18" charset="2"/>
              </a:rPr>
              <a:t>.</a:t>
            </a:r>
            <a:r>
              <a:rPr lang="ru-RU" sz="2000" dirty="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4F6FC2-1EB9-4D16-43F7-1792F7197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Эволюция высокоуровневых языков программирования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BC3A283D-11E3-C0CB-BDA1-0A9A1BDAD056}"/>
              </a:ext>
            </a:extLst>
          </p:cNvPr>
          <p:cNvGrpSpPr/>
          <p:nvPr/>
        </p:nvGrpSpPr>
        <p:grpSpPr>
          <a:xfrm>
            <a:off x="6096000" y="1644547"/>
            <a:ext cx="5472853" cy="4863803"/>
            <a:chOff x="2998211" y="1079999"/>
            <a:chExt cx="6096448" cy="5418001"/>
          </a:xfrm>
        </p:grpSpPr>
        <p:pic>
          <p:nvPicPr>
            <p:cNvPr id="6" name="Объект 4" descr="Изображение выглядит как черный, темнот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8377DD1F-07B2-8F31-81A1-020CAEBAC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211" y="2279088"/>
              <a:ext cx="2768272" cy="4218912"/>
            </a:xfrm>
            <a:prstGeom prst="rect">
              <a:avLst/>
            </a:prstGeom>
          </p:spPr>
        </p:pic>
        <p:sp>
          <p:nvSpPr>
            <p:cNvPr id="7" name="Облачко с текстом: овальное 6">
              <a:extLst>
                <a:ext uri="{FF2B5EF4-FFF2-40B4-BE49-F238E27FC236}">
                  <a16:creationId xmlns:a16="http://schemas.microsoft.com/office/drawing/2014/main" id="{99AD5B06-E7BD-69FA-16AA-439DB92D5163}"/>
                </a:ext>
              </a:extLst>
            </p:cNvPr>
            <p:cNvSpPr/>
            <p:nvPr/>
          </p:nvSpPr>
          <p:spPr>
            <a:xfrm>
              <a:off x="5190515" y="1079999"/>
              <a:ext cx="3904144" cy="1640797"/>
            </a:xfrm>
            <a:prstGeom prst="wedgeEllipseCallout">
              <a:avLst>
                <a:gd name="adj1" fmla="val -34749"/>
                <a:gd name="adj2" fmla="val 72558"/>
              </a:avLst>
            </a:prstGeom>
            <a:noFill/>
            <a:ln w="12700">
              <a:solidFill>
                <a:srgbClr val="002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 меня осталось много вопросов, но в общих чертах все понятно!</a:t>
              </a:r>
            </a:p>
          </p:txBody>
        </p: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01A4E4A-A758-A377-2010-4192386FD42D}"/>
              </a:ext>
            </a:extLst>
          </p:cNvPr>
          <p:cNvSpPr/>
          <p:nvPr/>
        </p:nvSpPr>
        <p:spPr>
          <a:xfrm>
            <a:off x="9787467" y="4612640"/>
            <a:ext cx="2223244" cy="2065254"/>
          </a:xfrm>
          <a:custGeom>
            <a:avLst/>
            <a:gdLst>
              <a:gd name="csX0" fmla="*/ 0 w 2223244"/>
              <a:gd name="csY0" fmla="*/ 0 h 2065254"/>
              <a:gd name="csX1" fmla="*/ 533579 w 2223244"/>
              <a:gd name="csY1" fmla="*/ 0 h 2065254"/>
              <a:gd name="csX2" fmla="*/ 1022692 w 2223244"/>
              <a:gd name="csY2" fmla="*/ 0 h 2065254"/>
              <a:gd name="csX3" fmla="*/ 1622968 w 2223244"/>
              <a:gd name="csY3" fmla="*/ 0 h 2065254"/>
              <a:gd name="csX4" fmla="*/ 2223244 w 2223244"/>
              <a:gd name="csY4" fmla="*/ 0 h 2065254"/>
              <a:gd name="csX5" fmla="*/ 2223244 w 2223244"/>
              <a:gd name="csY5" fmla="*/ 495661 h 2065254"/>
              <a:gd name="csX6" fmla="*/ 2223244 w 2223244"/>
              <a:gd name="csY6" fmla="*/ 970669 h 2065254"/>
              <a:gd name="csX7" fmla="*/ 2223244 w 2223244"/>
              <a:gd name="csY7" fmla="*/ 1486983 h 2065254"/>
              <a:gd name="csX8" fmla="*/ 2223244 w 2223244"/>
              <a:gd name="csY8" fmla="*/ 2065254 h 2065254"/>
              <a:gd name="csX9" fmla="*/ 1711898 w 2223244"/>
              <a:gd name="csY9" fmla="*/ 2065254 h 2065254"/>
              <a:gd name="csX10" fmla="*/ 1156087 w 2223244"/>
              <a:gd name="csY10" fmla="*/ 2065254 h 2065254"/>
              <a:gd name="csX11" fmla="*/ 600276 w 2223244"/>
              <a:gd name="csY11" fmla="*/ 2065254 h 2065254"/>
              <a:gd name="csX12" fmla="*/ 0 w 2223244"/>
              <a:gd name="csY12" fmla="*/ 2065254 h 2065254"/>
              <a:gd name="csX13" fmla="*/ 0 w 2223244"/>
              <a:gd name="csY13" fmla="*/ 1507635 h 2065254"/>
              <a:gd name="csX14" fmla="*/ 0 w 2223244"/>
              <a:gd name="csY14" fmla="*/ 950017 h 2065254"/>
              <a:gd name="csX15" fmla="*/ 0 w 2223244"/>
              <a:gd name="csY15" fmla="*/ 0 h 20652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223244" h="2065254" extrusionOk="0">
                <a:moveTo>
                  <a:pt x="0" y="0"/>
                </a:moveTo>
                <a:cubicBezTo>
                  <a:pt x="233149" y="-19713"/>
                  <a:pt x="417659" y="45665"/>
                  <a:pt x="533579" y="0"/>
                </a:cubicBezTo>
                <a:cubicBezTo>
                  <a:pt x="649499" y="-45665"/>
                  <a:pt x="913305" y="29506"/>
                  <a:pt x="1022692" y="0"/>
                </a:cubicBezTo>
                <a:cubicBezTo>
                  <a:pt x="1132079" y="-29506"/>
                  <a:pt x="1325930" y="39475"/>
                  <a:pt x="1622968" y="0"/>
                </a:cubicBezTo>
                <a:cubicBezTo>
                  <a:pt x="1920006" y="-39475"/>
                  <a:pt x="1978053" y="28911"/>
                  <a:pt x="2223244" y="0"/>
                </a:cubicBezTo>
                <a:cubicBezTo>
                  <a:pt x="2226312" y="209860"/>
                  <a:pt x="2180545" y="359659"/>
                  <a:pt x="2223244" y="495661"/>
                </a:cubicBezTo>
                <a:cubicBezTo>
                  <a:pt x="2265943" y="631663"/>
                  <a:pt x="2167648" y="758974"/>
                  <a:pt x="2223244" y="970669"/>
                </a:cubicBezTo>
                <a:cubicBezTo>
                  <a:pt x="2278840" y="1182364"/>
                  <a:pt x="2163704" y="1354936"/>
                  <a:pt x="2223244" y="1486983"/>
                </a:cubicBezTo>
                <a:cubicBezTo>
                  <a:pt x="2282784" y="1619030"/>
                  <a:pt x="2221093" y="1805805"/>
                  <a:pt x="2223244" y="2065254"/>
                </a:cubicBezTo>
                <a:cubicBezTo>
                  <a:pt x="2065933" y="2076408"/>
                  <a:pt x="1922883" y="2022505"/>
                  <a:pt x="1711898" y="2065254"/>
                </a:cubicBezTo>
                <a:cubicBezTo>
                  <a:pt x="1500913" y="2108003"/>
                  <a:pt x="1402117" y="2040715"/>
                  <a:pt x="1156087" y="2065254"/>
                </a:cubicBezTo>
                <a:cubicBezTo>
                  <a:pt x="910057" y="2089793"/>
                  <a:pt x="792961" y="2042327"/>
                  <a:pt x="600276" y="2065254"/>
                </a:cubicBezTo>
                <a:cubicBezTo>
                  <a:pt x="407591" y="2088181"/>
                  <a:pt x="174845" y="2010159"/>
                  <a:pt x="0" y="2065254"/>
                </a:cubicBezTo>
                <a:cubicBezTo>
                  <a:pt x="-61275" y="1942280"/>
                  <a:pt x="9733" y="1660634"/>
                  <a:pt x="0" y="1507635"/>
                </a:cubicBezTo>
                <a:cubicBezTo>
                  <a:pt x="-9733" y="1354636"/>
                  <a:pt x="27816" y="1075743"/>
                  <a:pt x="0" y="950017"/>
                </a:cubicBezTo>
                <a:cubicBezTo>
                  <a:pt x="-27816" y="824291"/>
                  <a:pt x="47862" y="237680"/>
                  <a:pt x="0" y="0"/>
                </a:cubicBezTo>
                <a:close/>
              </a:path>
            </a:pathLst>
          </a:custGeom>
          <a:noFill/>
          <a:ln w="12700">
            <a:solidFill>
              <a:srgbClr val="002C5C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Java: </a:t>
            </a:r>
            <a:r>
              <a:rPr lang="ru-RU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разработан Джеймсом Гослингом и </a:t>
            </a:r>
            <a:r>
              <a:rPr lang="en-US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Sun Microsystems </a:t>
            </a:r>
            <a:r>
              <a:rPr lang="ru-RU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1995 году.</a:t>
            </a:r>
          </a:p>
          <a:p>
            <a:r>
              <a:rPr lang="en-US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r>
              <a:rPr lang="ru-RU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разработан</a:t>
            </a:r>
            <a:r>
              <a:rPr lang="en-US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Андерсом Хейлсбергом в 2001 году.</a:t>
            </a:r>
          </a:p>
        </p:txBody>
      </p:sp>
    </p:spTree>
    <p:extLst>
      <p:ext uri="{BB962C8B-B14F-4D97-AF65-F5344CB8AC3E}">
        <p14:creationId xmlns:p14="http://schemas.microsoft.com/office/powerpoint/2010/main" val="3633092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AFEAC-2910-B8E8-5A7F-953D185F5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164B32D7-F950-211D-111E-A55A34B2F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980000"/>
            <a:ext cx="5736000" cy="4512250"/>
          </a:xfrm>
        </p:spPr>
        <p:txBody>
          <a:bodyPr>
            <a:noAutofit/>
          </a:bodyPr>
          <a:lstStyle/>
          <a:p>
            <a:r>
              <a:rPr lang="ru-RU" sz="2000" dirty="0">
                <a:sym typeface="Symbol" panose="05050102010706020507" pitchFamily="18" charset="2"/>
              </a:rPr>
              <a:t>Приводимые всюду примеры: </a:t>
            </a:r>
            <a:r>
              <a:rPr lang="en-US" sz="2000" dirty="0">
                <a:sym typeface="Symbol" panose="05050102010706020507" pitchFamily="18" charset="2"/>
              </a:rPr>
              <a:t>JavaScript, Python, SQL</a:t>
            </a:r>
            <a:r>
              <a:rPr lang="ru-RU" sz="2000" dirty="0">
                <a:sym typeface="Symbol" panose="05050102010706020507" pitchFamily="18" charset="2"/>
              </a:rPr>
              <a:t>. </a:t>
            </a:r>
          </a:p>
          <a:p>
            <a:r>
              <a:rPr lang="ru-RU" sz="2000" dirty="0">
                <a:sym typeface="Symbol" panose="05050102010706020507" pitchFamily="18" charset="2"/>
              </a:rPr>
              <a:t>Осталось только понять, если они такие узкоспециализированные, то почему на </a:t>
            </a:r>
            <a:r>
              <a:rPr lang="en-US" sz="2000" dirty="0">
                <a:sym typeface="Symbol" panose="05050102010706020507" pitchFamily="18" charset="2"/>
              </a:rPr>
              <a:t>JavaScript</a:t>
            </a:r>
            <a:r>
              <a:rPr lang="ru-RU" sz="2000" dirty="0">
                <a:sym typeface="Symbol" panose="05050102010706020507" pitchFamily="18" charset="2"/>
              </a:rPr>
              <a:t> и</a:t>
            </a:r>
            <a:r>
              <a:rPr lang="en-US" sz="2000" dirty="0">
                <a:sym typeface="Symbol" panose="05050102010706020507" pitchFamily="18" charset="2"/>
              </a:rPr>
              <a:t> Python</a:t>
            </a:r>
            <a:r>
              <a:rPr lang="ru-RU" sz="2000" dirty="0">
                <a:sym typeface="Symbol" panose="05050102010706020507" pitchFamily="18" charset="2"/>
              </a:rPr>
              <a:t> пишут все, что угодно.</a:t>
            </a:r>
          </a:p>
          <a:p>
            <a:r>
              <a:rPr lang="ru-RU" sz="2000" dirty="0">
                <a:sym typeface="Symbol" panose="05050102010706020507" pitchFamily="18" charset="2"/>
              </a:rPr>
              <a:t>А еще конечно вопрос, что в классификации языков программирования забыл язык запросов </a:t>
            </a:r>
            <a:r>
              <a:rPr lang="en-US" sz="2000" dirty="0">
                <a:sym typeface="Symbol" panose="05050102010706020507" pitchFamily="18" charset="2"/>
              </a:rPr>
              <a:t>SQL?</a:t>
            </a:r>
            <a:endParaRPr lang="ru-RU" sz="2000" dirty="0">
              <a:sym typeface="Symbol" panose="05050102010706020507" pitchFamily="18" charset="2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AF4597-3243-8E69-ECD9-6C9C34BD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4</a:t>
            </a:r>
            <a:r>
              <a:rPr lang="en-US" dirty="0"/>
              <a:t>GL</a:t>
            </a:r>
            <a:r>
              <a:rPr lang="ru-RU" dirty="0"/>
              <a:t> или узкоспециализированные языки программирования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9B9A9A6-56D0-9CCB-18FF-55FB6D3A8030}"/>
              </a:ext>
            </a:extLst>
          </p:cNvPr>
          <p:cNvGrpSpPr/>
          <p:nvPr/>
        </p:nvGrpSpPr>
        <p:grpSpPr>
          <a:xfrm>
            <a:off x="6096000" y="1644547"/>
            <a:ext cx="5472853" cy="4863803"/>
            <a:chOff x="2998211" y="1079999"/>
            <a:chExt cx="6096448" cy="5418001"/>
          </a:xfrm>
        </p:grpSpPr>
        <p:pic>
          <p:nvPicPr>
            <p:cNvPr id="6" name="Объект 4" descr="Изображение выглядит как черный, темнот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D0254791-0C53-CEB9-615D-0278D33E5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211" y="2279088"/>
              <a:ext cx="2768272" cy="4218912"/>
            </a:xfrm>
            <a:prstGeom prst="rect">
              <a:avLst/>
            </a:prstGeom>
          </p:spPr>
        </p:pic>
        <p:sp>
          <p:nvSpPr>
            <p:cNvPr id="7" name="Облачко с текстом: овальное 6">
              <a:extLst>
                <a:ext uri="{FF2B5EF4-FFF2-40B4-BE49-F238E27FC236}">
                  <a16:creationId xmlns:a16="http://schemas.microsoft.com/office/drawing/2014/main" id="{074D4F81-FC06-1C82-603A-682AE4429A26}"/>
                </a:ext>
              </a:extLst>
            </p:cNvPr>
            <p:cNvSpPr/>
            <p:nvPr/>
          </p:nvSpPr>
          <p:spPr>
            <a:xfrm>
              <a:off x="5190515" y="1079999"/>
              <a:ext cx="3904144" cy="1640797"/>
            </a:xfrm>
            <a:prstGeom prst="wedgeEllipseCallout">
              <a:avLst>
                <a:gd name="adj1" fmla="val -34749"/>
                <a:gd name="adj2" fmla="val 72558"/>
              </a:avLst>
            </a:prstGeom>
            <a:noFill/>
            <a:ln w="12700">
              <a:solidFill>
                <a:srgbClr val="002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 дальше то зачем пошли вообще?!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6265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33BE2-782B-2938-86F3-E8B29E0E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BA613F6F-1C8B-40D5-0EE6-4BCD96AF2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980000"/>
            <a:ext cx="5736000" cy="4512250"/>
          </a:xfrm>
        </p:spPr>
        <p:txBody>
          <a:bodyPr>
            <a:noAutofit/>
          </a:bodyPr>
          <a:lstStyle/>
          <a:p>
            <a:r>
              <a:rPr lang="ru-RU" sz="2000" dirty="0">
                <a:sym typeface="Symbol" panose="05050102010706020507" pitchFamily="18" charset="2"/>
              </a:rPr>
              <a:t>Большего, чем на картинке мне тут сказать особо и нечего)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9B84010-299A-CF1D-7748-6230F817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5</a:t>
            </a:r>
            <a:r>
              <a:rPr lang="en-US" dirty="0"/>
              <a:t>GL</a:t>
            </a:r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9A4B17F-3839-5E4E-8B32-5B45599B9310}"/>
              </a:ext>
            </a:extLst>
          </p:cNvPr>
          <p:cNvGrpSpPr/>
          <p:nvPr/>
        </p:nvGrpSpPr>
        <p:grpSpPr>
          <a:xfrm>
            <a:off x="6096000" y="1644547"/>
            <a:ext cx="5472853" cy="4863803"/>
            <a:chOff x="2998211" y="1079999"/>
            <a:chExt cx="6096448" cy="5418001"/>
          </a:xfrm>
        </p:grpSpPr>
        <p:pic>
          <p:nvPicPr>
            <p:cNvPr id="6" name="Объект 4" descr="Изображение выглядит как черный, темнот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D7F88F3B-4B56-4337-31B2-8C29213A3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211" y="2279088"/>
              <a:ext cx="2768272" cy="4218912"/>
            </a:xfrm>
            <a:prstGeom prst="rect">
              <a:avLst/>
            </a:prstGeom>
          </p:spPr>
        </p:pic>
        <p:sp>
          <p:nvSpPr>
            <p:cNvPr id="7" name="Облачко с текстом: овальное 6">
              <a:extLst>
                <a:ext uri="{FF2B5EF4-FFF2-40B4-BE49-F238E27FC236}">
                  <a16:creationId xmlns:a16="http://schemas.microsoft.com/office/drawing/2014/main" id="{1AE38A3D-B366-BC82-B9A5-B49D3877F109}"/>
                </a:ext>
              </a:extLst>
            </p:cNvPr>
            <p:cNvSpPr/>
            <p:nvPr/>
          </p:nvSpPr>
          <p:spPr>
            <a:xfrm>
              <a:off x="5190515" y="1079999"/>
              <a:ext cx="3904144" cy="1640797"/>
            </a:xfrm>
            <a:prstGeom prst="wedgeEllipseCallout">
              <a:avLst>
                <a:gd name="adj1" fmla="val -34749"/>
                <a:gd name="adj2" fmla="val 72558"/>
              </a:avLst>
            </a:prstGeom>
            <a:noFill/>
            <a:ln w="12700">
              <a:solidFill>
                <a:srgbClr val="002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Э-э-эм…</a:t>
              </a:r>
              <a:br>
                <a:rPr lang="en-US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Это про </a:t>
              </a:r>
              <a:r>
                <a:rPr lang="en-US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no-code platform</a:t>
              </a:r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и</a:t>
              </a:r>
              <a:r>
                <a:rPr lang="en-US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br>
                <a:rPr lang="en-US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chat GPT</a:t>
              </a:r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2826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A87EB-9A14-8022-2AB2-8D16799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Байт-код и виртуальные машины</a:t>
            </a:r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32991F6C-D401-16DC-B33B-8F86E82D6603}"/>
              </a:ext>
            </a:extLst>
          </p:cNvPr>
          <p:cNvGrpSpPr/>
          <p:nvPr/>
        </p:nvGrpSpPr>
        <p:grpSpPr>
          <a:xfrm>
            <a:off x="244638" y="1571625"/>
            <a:ext cx="11721070" cy="3714750"/>
            <a:chOff x="244638" y="1571625"/>
            <a:chExt cx="11721070" cy="3714750"/>
          </a:xfrm>
        </p:grpSpPr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9AE90F81-1EF4-31BD-FCE7-0D99CC4AE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3262" y="2631255"/>
              <a:ext cx="3375879" cy="172905"/>
            </a:xfrm>
            <a:prstGeom prst="straightConnector1">
              <a:avLst/>
            </a:prstGeom>
            <a:ln>
              <a:solidFill>
                <a:srgbClr val="002C5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Облачко с текстом: овальное 23">
              <a:extLst>
                <a:ext uri="{FF2B5EF4-FFF2-40B4-BE49-F238E27FC236}">
                  <a16:creationId xmlns:a16="http://schemas.microsoft.com/office/drawing/2014/main" id="{ABA1B030-DF7E-57A4-190E-1CF95CD12EAD}"/>
                </a:ext>
              </a:extLst>
            </p:cNvPr>
            <p:cNvSpPr/>
            <p:nvPr/>
          </p:nvSpPr>
          <p:spPr>
            <a:xfrm>
              <a:off x="244638" y="1800000"/>
              <a:ext cx="3504796" cy="983971"/>
            </a:xfrm>
            <a:prstGeom prst="wedgeEllipseCallout">
              <a:avLst>
                <a:gd name="adj1" fmla="val 83526"/>
                <a:gd name="adj2" fmla="val 52993"/>
              </a:avLst>
            </a:prstGeom>
            <a:noFill/>
            <a:ln w="12700">
              <a:solidFill>
                <a:srgbClr val="002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Слышь, кожаный!</a:t>
              </a:r>
              <a:br>
                <a:rPr lang="ru-RU" sz="14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4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 ну ка выпусти меня!</a:t>
              </a:r>
              <a:br>
                <a:rPr lang="ru-RU" sz="14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400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Я отсюда не могу тебе винду снести…</a:t>
              </a:r>
            </a:p>
          </p:txBody>
        </p:sp>
        <p:grpSp>
          <p:nvGrpSpPr>
            <p:cNvPr id="28" name="Рисунок 8" descr="Тюрьма контур">
              <a:extLst>
                <a:ext uri="{FF2B5EF4-FFF2-40B4-BE49-F238E27FC236}">
                  <a16:creationId xmlns:a16="http://schemas.microsoft.com/office/drawing/2014/main" id="{D76D4938-8840-E01D-917B-C69DF0BDC8FE}"/>
                </a:ext>
              </a:extLst>
            </p:cNvPr>
            <p:cNvGrpSpPr/>
            <p:nvPr/>
          </p:nvGrpSpPr>
          <p:grpSpPr>
            <a:xfrm>
              <a:off x="3238500" y="1571625"/>
              <a:ext cx="5715000" cy="3714750"/>
              <a:chOff x="3238500" y="1571625"/>
              <a:chExt cx="5715000" cy="3714750"/>
            </a:xfrm>
            <a:solidFill>
              <a:srgbClr val="000000"/>
            </a:solidFill>
          </p:grpSpPr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28FA5ABF-742A-45AE-8B54-3D77F4ED0668}"/>
                  </a:ext>
                </a:extLst>
              </p:cNvPr>
              <p:cNvSpPr/>
              <p:nvPr/>
            </p:nvSpPr>
            <p:spPr>
              <a:xfrm>
                <a:off x="3238500" y="1571625"/>
                <a:ext cx="5715000" cy="3714750"/>
              </a:xfrm>
              <a:custGeom>
                <a:avLst/>
                <a:gdLst>
                  <a:gd name="csX0" fmla="*/ 5715000 w 5715000"/>
                  <a:gd name="csY0" fmla="*/ 142875 h 3714750"/>
                  <a:gd name="csX1" fmla="*/ 5715000 w 5715000"/>
                  <a:gd name="csY1" fmla="*/ 0 h 3714750"/>
                  <a:gd name="csX2" fmla="*/ 0 w 5715000"/>
                  <a:gd name="csY2" fmla="*/ 0 h 3714750"/>
                  <a:gd name="csX3" fmla="*/ 0 w 5715000"/>
                  <a:gd name="csY3" fmla="*/ 142875 h 3714750"/>
                  <a:gd name="csX4" fmla="*/ 642938 w 5715000"/>
                  <a:gd name="csY4" fmla="*/ 142875 h 3714750"/>
                  <a:gd name="csX5" fmla="*/ 642938 w 5715000"/>
                  <a:gd name="csY5" fmla="*/ 3571875 h 3714750"/>
                  <a:gd name="csX6" fmla="*/ 0 w 5715000"/>
                  <a:gd name="csY6" fmla="*/ 3571875 h 3714750"/>
                  <a:gd name="csX7" fmla="*/ 0 w 5715000"/>
                  <a:gd name="csY7" fmla="*/ 3714750 h 3714750"/>
                  <a:gd name="csX8" fmla="*/ 5715000 w 5715000"/>
                  <a:gd name="csY8" fmla="*/ 3714750 h 3714750"/>
                  <a:gd name="csX9" fmla="*/ 5715000 w 5715000"/>
                  <a:gd name="csY9" fmla="*/ 3571875 h 3714750"/>
                  <a:gd name="csX10" fmla="*/ 5072063 w 5715000"/>
                  <a:gd name="csY10" fmla="*/ 3571875 h 3714750"/>
                  <a:gd name="csX11" fmla="*/ 5072063 w 5715000"/>
                  <a:gd name="csY11" fmla="*/ 142875 h 3714750"/>
                  <a:gd name="csX12" fmla="*/ 4929188 w 5715000"/>
                  <a:gd name="csY12" fmla="*/ 2714625 h 3714750"/>
                  <a:gd name="csX13" fmla="*/ 3357563 w 5715000"/>
                  <a:gd name="csY13" fmla="*/ 2714625 h 3714750"/>
                  <a:gd name="csX14" fmla="*/ 3357563 w 5715000"/>
                  <a:gd name="csY14" fmla="*/ 1000125 h 3714750"/>
                  <a:gd name="csX15" fmla="*/ 4929188 w 5715000"/>
                  <a:gd name="csY15" fmla="*/ 1000125 h 3714750"/>
                  <a:gd name="csX16" fmla="*/ 2500313 w 5715000"/>
                  <a:gd name="csY16" fmla="*/ 142875 h 3714750"/>
                  <a:gd name="csX17" fmla="*/ 3214688 w 5715000"/>
                  <a:gd name="csY17" fmla="*/ 142875 h 3714750"/>
                  <a:gd name="csX18" fmla="*/ 3214688 w 5715000"/>
                  <a:gd name="csY18" fmla="*/ 3571875 h 3714750"/>
                  <a:gd name="csX19" fmla="*/ 2500313 w 5715000"/>
                  <a:gd name="csY19" fmla="*/ 3571875 h 3714750"/>
                  <a:gd name="csX20" fmla="*/ 2357438 w 5715000"/>
                  <a:gd name="csY20" fmla="*/ 3571875 h 3714750"/>
                  <a:gd name="csX21" fmla="*/ 1643063 w 5715000"/>
                  <a:gd name="csY21" fmla="*/ 3571875 h 3714750"/>
                  <a:gd name="csX22" fmla="*/ 1643063 w 5715000"/>
                  <a:gd name="csY22" fmla="*/ 142875 h 3714750"/>
                  <a:gd name="csX23" fmla="*/ 2357438 w 5715000"/>
                  <a:gd name="csY23" fmla="*/ 142875 h 3714750"/>
                  <a:gd name="csX24" fmla="*/ 3357563 w 5715000"/>
                  <a:gd name="csY24" fmla="*/ 2857500 h 3714750"/>
                  <a:gd name="csX25" fmla="*/ 4071938 w 5715000"/>
                  <a:gd name="csY25" fmla="*/ 2857500 h 3714750"/>
                  <a:gd name="csX26" fmla="*/ 4071938 w 5715000"/>
                  <a:gd name="csY26" fmla="*/ 3571875 h 3714750"/>
                  <a:gd name="csX27" fmla="*/ 3357563 w 5715000"/>
                  <a:gd name="csY27" fmla="*/ 3571875 h 3714750"/>
                  <a:gd name="csX28" fmla="*/ 3357563 w 5715000"/>
                  <a:gd name="csY28" fmla="*/ 857250 h 3714750"/>
                  <a:gd name="csX29" fmla="*/ 3357563 w 5715000"/>
                  <a:gd name="csY29" fmla="*/ 142875 h 3714750"/>
                  <a:gd name="csX30" fmla="*/ 4071938 w 5715000"/>
                  <a:gd name="csY30" fmla="*/ 142875 h 3714750"/>
                  <a:gd name="csX31" fmla="*/ 4071938 w 5715000"/>
                  <a:gd name="csY31" fmla="*/ 857250 h 3714750"/>
                  <a:gd name="csX32" fmla="*/ 785813 w 5715000"/>
                  <a:gd name="csY32" fmla="*/ 142875 h 3714750"/>
                  <a:gd name="csX33" fmla="*/ 1500188 w 5715000"/>
                  <a:gd name="csY33" fmla="*/ 142875 h 3714750"/>
                  <a:gd name="csX34" fmla="*/ 1500188 w 5715000"/>
                  <a:gd name="csY34" fmla="*/ 3571875 h 3714750"/>
                  <a:gd name="csX35" fmla="*/ 785813 w 5715000"/>
                  <a:gd name="csY35" fmla="*/ 3571875 h 3714750"/>
                  <a:gd name="csX36" fmla="*/ 4214813 w 5715000"/>
                  <a:gd name="csY36" fmla="*/ 3571875 h 3714750"/>
                  <a:gd name="csX37" fmla="*/ 4214813 w 5715000"/>
                  <a:gd name="csY37" fmla="*/ 2857500 h 3714750"/>
                  <a:gd name="csX38" fmla="*/ 4929188 w 5715000"/>
                  <a:gd name="csY38" fmla="*/ 2857500 h 3714750"/>
                  <a:gd name="csX39" fmla="*/ 4929188 w 5715000"/>
                  <a:gd name="csY39" fmla="*/ 3571875 h 3714750"/>
                  <a:gd name="csX40" fmla="*/ 4929188 w 5715000"/>
                  <a:gd name="csY40" fmla="*/ 857250 h 3714750"/>
                  <a:gd name="csX41" fmla="*/ 4214813 w 5715000"/>
                  <a:gd name="csY41" fmla="*/ 857250 h 3714750"/>
                  <a:gd name="csX42" fmla="*/ 4214813 w 5715000"/>
                  <a:gd name="csY42" fmla="*/ 142875 h 3714750"/>
                  <a:gd name="csX43" fmla="*/ 4929188 w 5715000"/>
                  <a:gd name="csY43" fmla="*/ 142875 h 3714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5715000" h="3714750">
                    <a:moveTo>
                      <a:pt x="5715000" y="142875"/>
                    </a:moveTo>
                    <a:lnTo>
                      <a:pt x="5715000" y="0"/>
                    </a:lnTo>
                    <a:lnTo>
                      <a:pt x="0" y="0"/>
                    </a:lnTo>
                    <a:lnTo>
                      <a:pt x="0" y="142875"/>
                    </a:lnTo>
                    <a:lnTo>
                      <a:pt x="642938" y="142875"/>
                    </a:lnTo>
                    <a:lnTo>
                      <a:pt x="642938" y="3571875"/>
                    </a:lnTo>
                    <a:lnTo>
                      <a:pt x="0" y="3571875"/>
                    </a:lnTo>
                    <a:lnTo>
                      <a:pt x="0" y="3714750"/>
                    </a:lnTo>
                    <a:lnTo>
                      <a:pt x="5715000" y="3714750"/>
                    </a:lnTo>
                    <a:lnTo>
                      <a:pt x="5715000" y="3571875"/>
                    </a:lnTo>
                    <a:lnTo>
                      <a:pt x="5072063" y="3571875"/>
                    </a:lnTo>
                    <a:lnTo>
                      <a:pt x="5072063" y="142875"/>
                    </a:lnTo>
                    <a:close/>
                    <a:moveTo>
                      <a:pt x="4929188" y="2714625"/>
                    </a:moveTo>
                    <a:lnTo>
                      <a:pt x="3357563" y="2714625"/>
                    </a:lnTo>
                    <a:lnTo>
                      <a:pt x="3357563" y="1000125"/>
                    </a:lnTo>
                    <a:lnTo>
                      <a:pt x="4929188" y="1000125"/>
                    </a:lnTo>
                    <a:close/>
                    <a:moveTo>
                      <a:pt x="2500313" y="142875"/>
                    </a:moveTo>
                    <a:lnTo>
                      <a:pt x="3214688" y="142875"/>
                    </a:lnTo>
                    <a:lnTo>
                      <a:pt x="3214688" y="3571875"/>
                    </a:lnTo>
                    <a:lnTo>
                      <a:pt x="2500313" y="3571875"/>
                    </a:lnTo>
                    <a:close/>
                    <a:moveTo>
                      <a:pt x="2357438" y="3571875"/>
                    </a:moveTo>
                    <a:lnTo>
                      <a:pt x="1643063" y="3571875"/>
                    </a:lnTo>
                    <a:lnTo>
                      <a:pt x="1643063" y="142875"/>
                    </a:lnTo>
                    <a:lnTo>
                      <a:pt x="2357438" y="142875"/>
                    </a:lnTo>
                    <a:close/>
                    <a:moveTo>
                      <a:pt x="3357563" y="2857500"/>
                    </a:moveTo>
                    <a:lnTo>
                      <a:pt x="4071938" y="2857500"/>
                    </a:lnTo>
                    <a:lnTo>
                      <a:pt x="4071938" y="3571875"/>
                    </a:lnTo>
                    <a:lnTo>
                      <a:pt x="3357563" y="3571875"/>
                    </a:lnTo>
                    <a:close/>
                    <a:moveTo>
                      <a:pt x="3357563" y="857250"/>
                    </a:moveTo>
                    <a:lnTo>
                      <a:pt x="3357563" y="142875"/>
                    </a:lnTo>
                    <a:lnTo>
                      <a:pt x="4071938" y="142875"/>
                    </a:lnTo>
                    <a:lnTo>
                      <a:pt x="4071938" y="857250"/>
                    </a:lnTo>
                    <a:close/>
                    <a:moveTo>
                      <a:pt x="785813" y="142875"/>
                    </a:moveTo>
                    <a:lnTo>
                      <a:pt x="1500188" y="142875"/>
                    </a:lnTo>
                    <a:lnTo>
                      <a:pt x="1500188" y="3571875"/>
                    </a:lnTo>
                    <a:lnTo>
                      <a:pt x="785813" y="3571875"/>
                    </a:lnTo>
                    <a:close/>
                    <a:moveTo>
                      <a:pt x="4214813" y="3571875"/>
                    </a:moveTo>
                    <a:lnTo>
                      <a:pt x="4214813" y="2857500"/>
                    </a:lnTo>
                    <a:lnTo>
                      <a:pt x="4929188" y="2857500"/>
                    </a:lnTo>
                    <a:lnTo>
                      <a:pt x="4929188" y="3571875"/>
                    </a:lnTo>
                    <a:close/>
                    <a:moveTo>
                      <a:pt x="4929188" y="857250"/>
                    </a:moveTo>
                    <a:lnTo>
                      <a:pt x="4214813" y="857250"/>
                    </a:lnTo>
                    <a:lnTo>
                      <a:pt x="4214813" y="142875"/>
                    </a:lnTo>
                    <a:lnTo>
                      <a:pt x="4929188" y="142875"/>
                    </a:lnTo>
                    <a:close/>
                  </a:path>
                </a:pathLst>
              </a:custGeom>
              <a:solidFill>
                <a:srgbClr val="000000"/>
              </a:solidFill>
              <a:ln w="714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6AD1AE1B-9717-C219-8A95-DE474B423A33}"/>
                  </a:ext>
                </a:extLst>
              </p:cNvPr>
              <p:cNvSpPr/>
              <p:nvPr/>
            </p:nvSpPr>
            <p:spPr>
              <a:xfrm>
                <a:off x="7024665" y="2857478"/>
                <a:ext cx="714418" cy="1143021"/>
              </a:xfrm>
              <a:custGeom>
                <a:avLst/>
                <a:gdLst>
                  <a:gd name="csX0" fmla="*/ 142897 w 714418"/>
                  <a:gd name="csY0" fmla="*/ 642959 h 1143021"/>
                  <a:gd name="csX1" fmla="*/ 142897 w 714418"/>
                  <a:gd name="csY1" fmla="*/ 928709 h 1143021"/>
                  <a:gd name="csX2" fmla="*/ 357209 w 714418"/>
                  <a:gd name="csY2" fmla="*/ 1143022 h 1143021"/>
                  <a:gd name="csX3" fmla="*/ 571522 w 714418"/>
                  <a:gd name="csY3" fmla="*/ 928709 h 1143021"/>
                  <a:gd name="csX4" fmla="*/ 571522 w 714418"/>
                  <a:gd name="csY4" fmla="*/ 642959 h 1143021"/>
                  <a:gd name="csX5" fmla="*/ 642959 w 714418"/>
                  <a:gd name="csY5" fmla="*/ 142897 h 1143021"/>
                  <a:gd name="csX6" fmla="*/ 142897 w 714418"/>
                  <a:gd name="csY6" fmla="*/ 71459 h 1143021"/>
                  <a:gd name="csX7" fmla="*/ 71459 w 714418"/>
                  <a:gd name="csY7" fmla="*/ 571522 h 1143021"/>
                  <a:gd name="csX8" fmla="*/ 142897 w 714418"/>
                  <a:gd name="csY8" fmla="*/ 642959 h 1143021"/>
                  <a:gd name="csX9" fmla="*/ 357209 w 714418"/>
                  <a:gd name="csY9" fmla="*/ 142897 h 1143021"/>
                  <a:gd name="csX10" fmla="*/ 571758 w 714418"/>
                  <a:gd name="csY10" fmla="*/ 356973 h 1143021"/>
                  <a:gd name="csX11" fmla="*/ 464365 w 714418"/>
                  <a:gd name="csY11" fmla="*/ 542946 h 1143021"/>
                  <a:gd name="csX12" fmla="*/ 428647 w 714418"/>
                  <a:gd name="csY12" fmla="*/ 563521 h 1143021"/>
                  <a:gd name="csX13" fmla="*/ 428647 w 714418"/>
                  <a:gd name="csY13" fmla="*/ 928709 h 1143021"/>
                  <a:gd name="csX14" fmla="*/ 357209 w 714418"/>
                  <a:gd name="csY14" fmla="*/ 1000147 h 1143021"/>
                  <a:gd name="csX15" fmla="*/ 285772 w 714418"/>
                  <a:gd name="csY15" fmla="*/ 928709 h 1143021"/>
                  <a:gd name="csX16" fmla="*/ 285772 w 714418"/>
                  <a:gd name="csY16" fmla="*/ 563521 h 1143021"/>
                  <a:gd name="csX17" fmla="*/ 250053 w 714418"/>
                  <a:gd name="csY17" fmla="*/ 542875 h 1143021"/>
                  <a:gd name="csX18" fmla="*/ 171429 w 714418"/>
                  <a:gd name="csY18" fmla="*/ 250167 h 1143021"/>
                  <a:gd name="csX19" fmla="*/ 357209 w 714418"/>
                  <a:gd name="csY19" fmla="*/ 142897 h 11430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714418" h="1143021">
                    <a:moveTo>
                      <a:pt x="142897" y="642959"/>
                    </a:moveTo>
                    <a:lnTo>
                      <a:pt x="142897" y="928709"/>
                    </a:lnTo>
                    <a:cubicBezTo>
                      <a:pt x="142897" y="1047074"/>
                      <a:pt x="238844" y="1143022"/>
                      <a:pt x="357209" y="1143022"/>
                    </a:cubicBezTo>
                    <a:cubicBezTo>
                      <a:pt x="475574" y="1143022"/>
                      <a:pt x="571522" y="1047074"/>
                      <a:pt x="571522" y="928709"/>
                    </a:cubicBezTo>
                    <a:lnTo>
                      <a:pt x="571522" y="642959"/>
                    </a:lnTo>
                    <a:cubicBezTo>
                      <a:pt x="729334" y="524594"/>
                      <a:pt x="761324" y="300709"/>
                      <a:pt x="642959" y="142897"/>
                    </a:cubicBezTo>
                    <a:cubicBezTo>
                      <a:pt x="524594" y="-14916"/>
                      <a:pt x="300709" y="-46906"/>
                      <a:pt x="142897" y="71459"/>
                    </a:cubicBezTo>
                    <a:cubicBezTo>
                      <a:pt x="-14916" y="189824"/>
                      <a:pt x="-46906" y="413709"/>
                      <a:pt x="71459" y="571522"/>
                    </a:cubicBezTo>
                    <a:cubicBezTo>
                      <a:pt x="91769" y="598596"/>
                      <a:pt x="115822" y="622649"/>
                      <a:pt x="142897" y="642959"/>
                    </a:cubicBezTo>
                    <a:close/>
                    <a:moveTo>
                      <a:pt x="357209" y="142897"/>
                    </a:moveTo>
                    <a:cubicBezTo>
                      <a:pt x="475574" y="142768"/>
                      <a:pt x="571629" y="238609"/>
                      <a:pt x="571758" y="356973"/>
                    </a:cubicBezTo>
                    <a:cubicBezTo>
                      <a:pt x="571843" y="433719"/>
                      <a:pt x="530881" y="504656"/>
                      <a:pt x="464365" y="542946"/>
                    </a:cubicBezTo>
                    <a:lnTo>
                      <a:pt x="428647" y="563521"/>
                    </a:lnTo>
                    <a:lnTo>
                      <a:pt x="428647" y="928709"/>
                    </a:lnTo>
                    <a:cubicBezTo>
                      <a:pt x="428647" y="968164"/>
                      <a:pt x="396664" y="1000147"/>
                      <a:pt x="357209" y="1000147"/>
                    </a:cubicBezTo>
                    <a:cubicBezTo>
                      <a:pt x="317754" y="1000147"/>
                      <a:pt x="285772" y="968164"/>
                      <a:pt x="285772" y="928709"/>
                    </a:cubicBezTo>
                    <a:lnTo>
                      <a:pt x="285772" y="563521"/>
                    </a:lnTo>
                    <a:lnTo>
                      <a:pt x="250053" y="542875"/>
                    </a:lnTo>
                    <a:cubicBezTo>
                      <a:pt x="147512" y="483761"/>
                      <a:pt x="112314" y="352709"/>
                      <a:pt x="171429" y="250167"/>
                    </a:cubicBezTo>
                    <a:cubicBezTo>
                      <a:pt x="209712" y="183759"/>
                      <a:pt x="280557" y="142854"/>
                      <a:pt x="357209" y="1428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14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1" name="Рисунок 12" descr="Смущенный человек контур">
              <a:extLst>
                <a:ext uri="{FF2B5EF4-FFF2-40B4-BE49-F238E27FC236}">
                  <a16:creationId xmlns:a16="http://schemas.microsoft.com/office/drawing/2014/main" id="{268A29AD-FD36-8B82-724B-DD5BE4DA090A}"/>
                </a:ext>
              </a:extLst>
            </p:cNvPr>
            <p:cNvGrpSpPr/>
            <p:nvPr/>
          </p:nvGrpSpPr>
          <p:grpSpPr>
            <a:xfrm>
              <a:off x="4295413" y="2607987"/>
              <a:ext cx="1831424" cy="2674505"/>
              <a:chOff x="4295413" y="2607987"/>
              <a:chExt cx="1831424" cy="2674505"/>
            </a:xfrm>
            <a:solidFill>
              <a:srgbClr val="000000"/>
            </a:solidFill>
          </p:grpSpPr>
          <p:sp>
            <p:nvSpPr>
              <p:cNvPr id="32" name="Полилиния: фигура 31">
                <a:extLst>
                  <a:ext uri="{FF2B5EF4-FFF2-40B4-BE49-F238E27FC236}">
                    <a16:creationId xmlns:a16="http://schemas.microsoft.com/office/drawing/2014/main" id="{85B0E487-8073-A5C5-AB95-F4E41C65DD96}"/>
                  </a:ext>
                </a:extLst>
              </p:cNvPr>
              <p:cNvSpPr/>
              <p:nvPr/>
            </p:nvSpPr>
            <p:spPr>
              <a:xfrm>
                <a:off x="4976697" y="2607987"/>
                <a:ext cx="468852" cy="468906"/>
              </a:xfrm>
              <a:custGeom>
                <a:avLst/>
                <a:gdLst>
                  <a:gd name="csX0" fmla="*/ 234426 w 468852"/>
                  <a:gd name="csY0" fmla="*/ 468906 h 468906"/>
                  <a:gd name="csX1" fmla="*/ 468853 w 468852"/>
                  <a:gd name="csY1" fmla="*/ 234453 h 468906"/>
                  <a:gd name="csX2" fmla="*/ 234426 w 468852"/>
                  <a:gd name="csY2" fmla="*/ 0 h 468906"/>
                  <a:gd name="csX3" fmla="*/ 0 w 468852"/>
                  <a:gd name="csY3" fmla="*/ 234453 h 468906"/>
                  <a:gd name="csX4" fmla="*/ 234426 w 468852"/>
                  <a:gd name="csY4" fmla="*/ 468906 h 468906"/>
                  <a:gd name="csX5" fmla="*/ 234426 w 468852"/>
                  <a:gd name="csY5" fmla="*/ 58613 h 468906"/>
                  <a:gd name="csX6" fmla="*/ 410246 w 468852"/>
                  <a:gd name="csY6" fmla="*/ 234453 h 468906"/>
                  <a:gd name="csX7" fmla="*/ 234426 w 468852"/>
                  <a:gd name="csY7" fmla="*/ 410293 h 468906"/>
                  <a:gd name="csX8" fmla="*/ 58607 w 468852"/>
                  <a:gd name="csY8" fmla="*/ 234453 h 468906"/>
                  <a:gd name="csX9" fmla="*/ 234426 w 468852"/>
                  <a:gd name="csY9" fmla="*/ 58613 h 4689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68852" h="468906">
                    <a:moveTo>
                      <a:pt x="234426" y="468906"/>
                    </a:moveTo>
                    <a:cubicBezTo>
                      <a:pt x="363897" y="468906"/>
                      <a:pt x="468853" y="363939"/>
                      <a:pt x="468853" y="234453"/>
                    </a:cubicBezTo>
                    <a:cubicBezTo>
                      <a:pt x="468853" y="104968"/>
                      <a:pt x="363897" y="0"/>
                      <a:pt x="234426" y="0"/>
                    </a:cubicBezTo>
                    <a:cubicBezTo>
                      <a:pt x="104956" y="0"/>
                      <a:pt x="0" y="104968"/>
                      <a:pt x="0" y="234453"/>
                    </a:cubicBezTo>
                    <a:cubicBezTo>
                      <a:pt x="147" y="363877"/>
                      <a:pt x="105017" y="468760"/>
                      <a:pt x="234426" y="468906"/>
                    </a:cubicBezTo>
                    <a:close/>
                    <a:moveTo>
                      <a:pt x="234426" y="58613"/>
                    </a:moveTo>
                    <a:cubicBezTo>
                      <a:pt x="331529" y="58613"/>
                      <a:pt x="410246" y="137339"/>
                      <a:pt x="410246" y="234453"/>
                    </a:cubicBezTo>
                    <a:cubicBezTo>
                      <a:pt x="410246" y="331567"/>
                      <a:pt x="331529" y="410293"/>
                      <a:pt x="234426" y="410293"/>
                    </a:cubicBezTo>
                    <a:cubicBezTo>
                      <a:pt x="137324" y="410293"/>
                      <a:pt x="58607" y="331567"/>
                      <a:pt x="58607" y="234453"/>
                    </a:cubicBezTo>
                    <a:cubicBezTo>
                      <a:pt x="58703" y="137380"/>
                      <a:pt x="137365" y="58710"/>
                      <a:pt x="234426" y="58613"/>
                    </a:cubicBezTo>
                    <a:close/>
                  </a:path>
                </a:pathLst>
              </a:custGeom>
              <a:solidFill>
                <a:srgbClr val="000000"/>
              </a:solidFill>
              <a:ln w="2927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3" name="Полилиния: фигура 32">
                <a:extLst>
                  <a:ext uri="{FF2B5EF4-FFF2-40B4-BE49-F238E27FC236}">
                    <a16:creationId xmlns:a16="http://schemas.microsoft.com/office/drawing/2014/main" id="{39C9BB05-DAE6-B282-2A86-9A1BF7BCCD04}"/>
                  </a:ext>
                </a:extLst>
              </p:cNvPr>
              <p:cNvSpPr/>
              <p:nvPr/>
            </p:nvSpPr>
            <p:spPr>
              <a:xfrm>
                <a:off x="4295413" y="3135507"/>
                <a:ext cx="1831424" cy="703393"/>
              </a:xfrm>
              <a:custGeom>
                <a:avLst/>
                <a:gdLst>
                  <a:gd name="csX0" fmla="*/ 1829739 w 1831424"/>
                  <a:gd name="csY0" fmla="*/ 494579 h 703393"/>
                  <a:gd name="csX1" fmla="*/ 1673406 w 1831424"/>
                  <a:gd name="csY1" fmla="*/ 380752 h 703393"/>
                  <a:gd name="csX2" fmla="*/ 1460283 w 1831424"/>
                  <a:gd name="csY2" fmla="*/ 414308 h 703393"/>
                  <a:gd name="csX3" fmla="*/ 1365311 w 1831424"/>
                  <a:gd name="csY3" fmla="*/ 167312 h 703393"/>
                  <a:gd name="csX4" fmla="*/ 1362586 w 1831424"/>
                  <a:gd name="csY4" fmla="*/ 161187 h 703393"/>
                  <a:gd name="csX5" fmla="*/ 915711 w 1831424"/>
                  <a:gd name="csY5" fmla="*/ 0 h 703393"/>
                  <a:gd name="csX6" fmla="*/ 468601 w 1831424"/>
                  <a:gd name="csY6" fmla="*/ 161480 h 703393"/>
                  <a:gd name="csX7" fmla="*/ 371139 w 1831424"/>
                  <a:gd name="csY7" fmla="*/ 414308 h 703393"/>
                  <a:gd name="csX8" fmla="*/ 158016 w 1831424"/>
                  <a:gd name="csY8" fmla="*/ 380752 h 703393"/>
                  <a:gd name="csX9" fmla="*/ 1683 w 1831424"/>
                  <a:gd name="csY9" fmla="*/ 494579 h 703393"/>
                  <a:gd name="csX10" fmla="*/ 115497 w 1831424"/>
                  <a:gd name="csY10" fmla="*/ 650930 h 703393"/>
                  <a:gd name="csX11" fmla="*/ 437833 w 1831424"/>
                  <a:gd name="csY11" fmla="*/ 701660 h 703393"/>
                  <a:gd name="csX12" fmla="*/ 527530 w 1831424"/>
                  <a:gd name="csY12" fmla="*/ 685043 h 703393"/>
                  <a:gd name="csX13" fmla="*/ 537989 w 1831424"/>
                  <a:gd name="csY13" fmla="*/ 644940 h 703393"/>
                  <a:gd name="csX14" fmla="*/ 498227 w 1831424"/>
                  <a:gd name="csY14" fmla="*/ 634284 h 703393"/>
                  <a:gd name="csX15" fmla="*/ 447005 w 1831424"/>
                  <a:gd name="csY15" fmla="*/ 643779 h 703393"/>
                  <a:gd name="csX16" fmla="*/ 124669 w 1831424"/>
                  <a:gd name="csY16" fmla="*/ 593049 h 703393"/>
                  <a:gd name="csX17" fmla="*/ 59645 w 1831424"/>
                  <a:gd name="csY17" fmla="*/ 503693 h 703393"/>
                  <a:gd name="csX18" fmla="*/ 148990 w 1831424"/>
                  <a:gd name="csY18" fmla="*/ 438662 h 703393"/>
                  <a:gd name="csX19" fmla="*/ 408881 w 1831424"/>
                  <a:gd name="csY19" fmla="*/ 479545 h 703393"/>
                  <a:gd name="csX20" fmla="*/ 520234 w 1831424"/>
                  <a:gd name="csY20" fmla="*/ 190229 h 703393"/>
                  <a:gd name="csX21" fmla="*/ 522578 w 1831424"/>
                  <a:gd name="csY21" fmla="*/ 184690 h 703393"/>
                  <a:gd name="csX22" fmla="*/ 915858 w 1831424"/>
                  <a:gd name="csY22" fmla="*/ 58672 h 703393"/>
                  <a:gd name="csX23" fmla="*/ 1309020 w 1831424"/>
                  <a:gd name="csY23" fmla="*/ 184456 h 703393"/>
                  <a:gd name="csX24" fmla="*/ 1422746 w 1831424"/>
                  <a:gd name="csY24" fmla="*/ 479603 h 703393"/>
                  <a:gd name="csX25" fmla="*/ 1682637 w 1831424"/>
                  <a:gd name="csY25" fmla="*/ 438720 h 703393"/>
                  <a:gd name="csX26" fmla="*/ 1773163 w 1831424"/>
                  <a:gd name="csY26" fmla="*/ 502131 h 703393"/>
                  <a:gd name="csX27" fmla="*/ 1709760 w 1831424"/>
                  <a:gd name="csY27" fmla="*/ 592671 h 703393"/>
                  <a:gd name="csX28" fmla="*/ 1706988 w 1831424"/>
                  <a:gd name="csY28" fmla="*/ 593108 h 703393"/>
                  <a:gd name="csX29" fmla="*/ 1384652 w 1831424"/>
                  <a:gd name="csY29" fmla="*/ 643838 h 703393"/>
                  <a:gd name="csX30" fmla="*/ 1333283 w 1831424"/>
                  <a:gd name="csY30" fmla="*/ 634284 h 703393"/>
                  <a:gd name="csX31" fmla="*/ 1293325 w 1831424"/>
                  <a:gd name="csY31" fmla="*/ 645277 h 703393"/>
                  <a:gd name="csX32" fmla="*/ 1303980 w 1831424"/>
                  <a:gd name="csY32" fmla="*/ 685043 h 703393"/>
                  <a:gd name="csX33" fmla="*/ 1372286 w 1831424"/>
                  <a:gd name="csY33" fmla="*/ 703359 h 703393"/>
                  <a:gd name="csX34" fmla="*/ 1393618 w 1831424"/>
                  <a:gd name="csY34" fmla="*/ 701660 h 703393"/>
                  <a:gd name="csX35" fmla="*/ 1715955 w 1831424"/>
                  <a:gd name="csY35" fmla="*/ 650930 h 703393"/>
                  <a:gd name="csX36" fmla="*/ 1829739 w 1831424"/>
                  <a:gd name="csY36" fmla="*/ 494579 h 7033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</a:cxnLst>
                <a:rect l="l" t="t" r="r" b="b"/>
                <a:pathLst>
                  <a:path w="1831424" h="703393">
                    <a:moveTo>
                      <a:pt x="1829739" y="494579"/>
                    </a:moveTo>
                    <a:cubicBezTo>
                      <a:pt x="1817869" y="420052"/>
                      <a:pt x="1747968" y="369158"/>
                      <a:pt x="1673406" y="380752"/>
                    </a:cubicBezTo>
                    <a:lnTo>
                      <a:pt x="1460283" y="414308"/>
                    </a:lnTo>
                    <a:lnTo>
                      <a:pt x="1365311" y="167312"/>
                    </a:lnTo>
                    <a:lnTo>
                      <a:pt x="1362586" y="161187"/>
                    </a:lnTo>
                    <a:cubicBezTo>
                      <a:pt x="1303364" y="25673"/>
                      <a:pt x="1159837" y="0"/>
                      <a:pt x="915711" y="0"/>
                    </a:cubicBezTo>
                    <a:cubicBezTo>
                      <a:pt x="671585" y="0"/>
                      <a:pt x="528058" y="25673"/>
                      <a:pt x="468601" y="161480"/>
                    </a:cubicBezTo>
                    <a:lnTo>
                      <a:pt x="371139" y="414308"/>
                    </a:lnTo>
                    <a:lnTo>
                      <a:pt x="158016" y="380752"/>
                    </a:lnTo>
                    <a:cubicBezTo>
                      <a:pt x="83416" y="369009"/>
                      <a:pt x="13425" y="419970"/>
                      <a:pt x="1683" y="494579"/>
                    </a:cubicBezTo>
                    <a:cubicBezTo>
                      <a:pt x="-10059" y="569188"/>
                      <a:pt x="40896" y="639187"/>
                      <a:pt x="115497" y="650930"/>
                    </a:cubicBezTo>
                    <a:lnTo>
                      <a:pt x="437833" y="701660"/>
                    </a:lnTo>
                    <a:cubicBezTo>
                      <a:pt x="468754" y="706653"/>
                      <a:pt x="500448" y="700780"/>
                      <a:pt x="527530" y="685043"/>
                    </a:cubicBezTo>
                    <a:cubicBezTo>
                      <a:pt x="541490" y="676857"/>
                      <a:pt x="546176" y="658901"/>
                      <a:pt x="537989" y="644940"/>
                    </a:cubicBezTo>
                    <a:cubicBezTo>
                      <a:pt x="529880" y="631107"/>
                      <a:pt x="512164" y="626359"/>
                      <a:pt x="498227" y="634284"/>
                    </a:cubicBezTo>
                    <a:cubicBezTo>
                      <a:pt x="482770" y="643295"/>
                      <a:pt x="464663" y="646651"/>
                      <a:pt x="447005" y="643779"/>
                    </a:cubicBezTo>
                    <a:lnTo>
                      <a:pt x="124669" y="593049"/>
                    </a:lnTo>
                    <a:cubicBezTo>
                      <a:pt x="82041" y="586332"/>
                      <a:pt x="52928" y="546326"/>
                      <a:pt x="59645" y="503693"/>
                    </a:cubicBezTo>
                    <a:cubicBezTo>
                      <a:pt x="66361" y="461061"/>
                      <a:pt x="106363" y="431945"/>
                      <a:pt x="148990" y="438662"/>
                    </a:cubicBezTo>
                    <a:lnTo>
                      <a:pt x="408881" y="479545"/>
                    </a:lnTo>
                    <a:lnTo>
                      <a:pt x="520234" y="190229"/>
                    </a:lnTo>
                    <a:lnTo>
                      <a:pt x="522578" y="184690"/>
                    </a:lnTo>
                    <a:cubicBezTo>
                      <a:pt x="563837" y="90411"/>
                      <a:pt x="663234" y="58672"/>
                      <a:pt x="915858" y="58672"/>
                    </a:cubicBezTo>
                    <a:cubicBezTo>
                      <a:pt x="1168481" y="58672"/>
                      <a:pt x="1267878" y="90470"/>
                      <a:pt x="1309020" y="184456"/>
                    </a:cubicBezTo>
                    <a:lnTo>
                      <a:pt x="1422746" y="479603"/>
                    </a:lnTo>
                    <a:lnTo>
                      <a:pt x="1682637" y="438720"/>
                    </a:lnTo>
                    <a:cubicBezTo>
                      <a:pt x="1725144" y="431230"/>
                      <a:pt x="1765674" y="459619"/>
                      <a:pt x="1773163" y="502131"/>
                    </a:cubicBezTo>
                    <a:cubicBezTo>
                      <a:pt x="1780653" y="544643"/>
                      <a:pt x="1752267" y="585180"/>
                      <a:pt x="1709760" y="592671"/>
                    </a:cubicBezTo>
                    <a:cubicBezTo>
                      <a:pt x="1708840" y="592832"/>
                      <a:pt x="1707914" y="592979"/>
                      <a:pt x="1706988" y="593108"/>
                    </a:cubicBezTo>
                    <a:lnTo>
                      <a:pt x="1384652" y="643838"/>
                    </a:lnTo>
                    <a:cubicBezTo>
                      <a:pt x="1366941" y="646669"/>
                      <a:pt x="1348793" y="643293"/>
                      <a:pt x="1333283" y="634284"/>
                    </a:cubicBezTo>
                    <a:cubicBezTo>
                      <a:pt x="1319215" y="626283"/>
                      <a:pt x="1301325" y="631206"/>
                      <a:pt x="1293325" y="645277"/>
                    </a:cubicBezTo>
                    <a:cubicBezTo>
                      <a:pt x="1285401" y="659215"/>
                      <a:pt x="1290149" y="676934"/>
                      <a:pt x="1303980" y="685043"/>
                    </a:cubicBezTo>
                    <a:cubicBezTo>
                      <a:pt x="1324750" y="697029"/>
                      <a:pt x="1348307" y="703345"/>
                      <a:pt x="1372286" y="703359"/>
                    </a:cubicBezTo>
                    <a:cubicBezTo>
                      <a:pt x="1379430" y="703359"/>
                      <a:pt x="1386565" y="702791"/>
                      <a:pt x="1393618" y="701660"/>
                    </a:cubicBezTo>
                    <a:lnTo>
                      <a:pt x="1715955" y="650930"/>
                    </a:lnTo>
                    <a:cubicBezTo>
                      <a:pt x="1790543" y="639178"/>
                      <a:pt x="1841487" y="569179"/>
                      <a:pt x="1829739" y="494579"/>
                    </a:cubicBezTo>
                    <a:close/>
                  </a:path>
                </a:pathLst>
              </a:custGeom>
              <a:solidFill>
                <a:srgbClr val="000000"/>
              </a:solidFill>
              <a:ln w="2927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34" name="Полилиния: фигура 33">
                <a:extLst>
                  <a:ext uri="{FF2B5EF4-FFF2-40B4-BE49-F238E27FC236}">
                    <a16:creationId xmlns:a16="http://schemas.microsoft.com/office/drawing/2014/main" id="{77333F5D-1A0A-21C5-0D77-8CEC62C46354}"/>
                  </a:ext>
                </a:extLst>
              </p:cNvPr>
              <p:cNvSpPr/>
              <p:nvPr/>
            </p:nvSpPr>
            <p:spPr>
              <a:xfrm>
                <a:off x="4918091" y="3457880"/>
                <a:ext cx="586065" cy="1787705"/>
              </a:xfrm>
              <a:custGeom>
                <a:avLst/>
                <a:gdLst>
                  <a:gd name="csX0" fmla="*/ 556763 w 586065"/>
                  <a:gd name="csY0" fmla="*/ 0 h 1787705"/>
                  <a:gd name="csX1" fmla="*/ 527459 w 586065"/>
                  <a:gd name="csY1" fmla="*/ 29307 h 1787705"/>
                  <a:gd name="csX2" fmla="*/ 527459 w 586065"/>
                  <a:gd name="csY2" fmla="*/ 1729092 h 1787705"/>
                  <a:gd name="csX3" fmla="*/ 322336 w 586065"/>
                  <a:gd name="csY3" fmla="*/ 1729092 h 1787705"/>
                  <a:gd name="csX4" fmla="*/ 322336 w 586065"/>
                  <a:gd name="csY4" fmla="*/ 732666 h 1787705"/>
                  <a:gd name="csX5" fmla="*/ 263730 w 586065"/>
                  <a:gd name="csY5" fmla="*/ 732666 h 1787705"/>
                  <a:gd name="csX6" fmla="*/ 263730 w 586065"/>
                  <a:gd name="csY6" fmla="*/ 1729092 h 1787705"/>
                  <a:gd name="csX7" fmla="*/ 58607 w 586065"/>
                  <a:gd name="csY7" fmla="*/ 1729092 h 1787705"/>
                  <a:gd name="csX8" fmla="*/ 58607 w 586065"/>
                  <a:gd name="csY8" fmla="*/ 29307 h 1787705"/>
                  <a:gd name="csX9" fmla="*/ 29303 w 586065"/>
                  <a:gd name="csY9" fmla="*/ 0 h 1787705"/>
                  <a:gd name="csX10" fmla="*/ 0 w 586065"/>
                  <a:gd name="csY10" fmla="*/ 29307 h 1787705"/>
                  <a:gd name="csX11" fmla="*/ 0 w 586065"/>
                  <a:gd name="csY11" fmla="*/ 1787705 h 1787705"/>
                  <a:gd name="csX12" fmla="*/ 586066 w 586065"/>
                  <a:gd name="csY12" fmla="*/ 1787705 h 1787705"/>
                  <a:gd name="csX13" fmla="*/ 586066 w 586065"/>
                  <a:gd name="csY13" fmla="*/ 29307 h 1787705"/>
                  <a:gd name="csX14" fmla="*/ 556763 w 586065"/>
                  <a:gd name="csY14" fmla="*/ 0 h 17877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586065" h="1787705">
                    <a:moveTo>
                      <a:pt x="556763" y="0"/>
                    </a:moveTo>
                    <a:cubicBezTo>
                      <a:pt x="540578" y="0"/>
                      <a:pt x="527459" y="13121"/>
                      <a:pt x="527459" y="29307"/>
                    </a:cubicBezTo>
                    <a:lnTo>
                      <a:pt x="527459" y="1729092"/>
                    </a:lnTo>
                    <a:lnTo>
                      <a:pt x="322336" y="1729092"/>
                    </a:lnTo>
                    <a:lnTo>
                      <a:pt x="322336" y="732666"/>
                    </a:lnTo>
                    <a:lnTo>
                      <a:pt x="263730" y="732666"/>
                    </a:lnTo>
                    <a:lnTo>
                      <a:pt x="263730" y="1729092"/>
                    </a:lnTo>
                    <a:lnTo>
                      <a:pt x="58607" y="1729092"/>
                    </a:lnTo>
                    <a:lnTo>
                      <a:pt x="58607" y="29307"/>
                    </a:lnTo>
                    <a:cubicBezTo>
                      <a:pt x="58607" y="13121"/>
                      <a:pt x="45487" y="0"/>
                      <a:pt x="29303" y="0"/>
                    </a:cubicBezTo>
                    <a:cubicBezTo>
                      <a:pt x="13119" y="0"/>
                      <a:pt x="0" y="13121"/>
                      <a:pt x="0" y="29307"/>
                    </a:cubicBezTo>
                    <a:lnTo>
                      <a:pt x="0" y="1787705"/>
                    </a:lnTo>
                    <a:lnTo>
                      <a:pt x="586066" y="1787705"/>
                    </a:lnTo>
                    <a:lnTo>
                      <a:pt x="586066" y="29307"/>
                    </a:lnTo>
                    <a:cubicBezTo>
                      <a:pt x="586066" y="13121"/>
                      <a:pt x="572947" y="0"/>
                      <a:pt x="55676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927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CBC262-2AED-827D-60C9-986835F163E1}"/>
                </a:ext>
              </a:extLst>
            </p:cNvPr>
            <p:cNvSpPr txBox="1"/>
            <p:nvPr/>
          </p:nvSpPr>
          <p:spPr>
            <a:xfrm>
              <a:off x="8873067" y="2434828"/>
              <a:ext cx="18155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Это программа</a:t>
              </a:r>
            </a:p>
          </p:txBody>
        </p: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EB774710-0461-3B5C-13B0-E5F5B95506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1483" y="3176693"/>
              <a:ext cx="551584" cy="406400"/>
            </a:xfrm>
            <a:prstGeom prst="straightConnector1">
              <a:avLst/>
            </a:prstGeom>
            <a:ln>
              <a:solidFill>
                <a:srgbClr val="002C5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8821BAF-33B8-7C23-DA7C-F6EE4ECC052A}"/>
                </a:ext>
              </a:extLst>
            </p:cNvPr>
            <p:cNvSpPr txBox="1"/>
            <p:nvPr/>
          </p:nvSpPr>
          <p:spPr>
            <a:xfrm>
              <a:off x="8873067" y="2922508"/>
              <a:ext cx="3092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 это виртуальная машина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0640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5CD98-C40F-1883-DE14-C2C4150D8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Интерпретатор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CB1E19-09FC-1C8C-03B4-3F9BF196E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Это программа, разновидность транслятора, построчно «читающая», обрабатывающая и выполняющая его.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Например, программу с консольным интерфейсом очень грубо можно назвать интерпретатором команд пользователя. По той причине, что «правильный» интерпретатор делает фактически тоже самое, только: </a:t>
            </a:r>
          </a:p>
          <a:p>
            <a:pPr marL="342000" indent="-342000">
              <a:buFont typeface="Arial" panose="020B0604020202020204" pitchFamily="34" charset="0"/>
              <a:buChar char="‒"/>
            </a:pPr>
            <a:r>
              <a:rPr lang="ru-RU" dirty="0"/>
              <a:t>принимает не одну команду, а все сразу в виде текстового документа;</a:t>
            </a:r>
          </a:p>
          <a:p>
            <a:pPr marL="342000" indent="-342000">
              <a:buFont typeface="Arial" panose="020B0604020202020204" pitchFamily="34" charset="0"/>
              <a:buChar char="‒"/>
            </a:pPr>
            <a:r>
              <a:rPr lang="ru-RU" dirty="0"/>
              <a:t>командами для интерпретатора выступает синтаксис языка программирования, который он интерпретирует.</a:t>
            </a:r>
          </a:p>
          <a:p>
            <a:pPr marL="342000" indent="-342000">
              <a:buFont typeface="Arial" panose="020B0604020202020204" pitchFamily="34" charset="0"/>
              <a:buChar char="‒"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Очевидно, что такие языке намного медленнее компилируемых.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F65C5A-AB94-C5D1-6516-89353743AD7F}"/>
              </a:ext>
            </a:extLst>
          </p:cNvPr>
          <p:cNvSpPr/>
          <p:nvPr/>
        </p:nvSpPr>
        <p:spPr>
          <a:xfrm>
            <a:off x="9787467" y="4612640"/>
            <a:ext cx="2223244" cy="2065254"/>
          </a:xfrm>
          <a:custGeom>
            <a:avLst/>
            <a:gdLst>
              <a:gd name="csX0" fmla="*/ 0 w 2223244"/>
              <a:gd name="csY0" fmla="*/ 0 h 2065254"/>
              <a:gd name="csX1" fmla="*/ 533579 w 2223244"/>
              <a:gd name="csY1" fmla="*/ 0 h 2065254"/>
              <a:gd name="csX2" fmla="*/ 1022692 w 2223244"/>
              <a:gd name="csY2" fmla="*/ 0 h 2065254"/>
              <a:gd name="csX3" fmla="*/ 1622968 w 2223244"/>
              <a:gd name="csY3" fmla="*/ 0 h 2065254"/>
              <a:gd name="csX4" fmla="*/ 2223244 w 2223244"/>
              <a:gd name="csY4" fmla="*/ 0 h 2065254"/>
              <a:gd name="csX5" fmla="*/ 2223244 w 2223244"/>
              <a:gd name="csY5" fmla="*/ 495661 h 2065254"/>
              <a:gd name="csX6" fmla="*/ 2223244 w 2223244"/>
              <a:gd name="csY6" fmla="*/ 970669 h 2065254"/>
              <a:gd name="csX7" fmla="*/ 2223244 w 2223244"/>
              <a:gd name="csY7" fmla="*/ 1486983 h 2065254"/>
              <a:gd name="csX8" fmla="*/ 2223244 w 2223244"/>
              <a:gd name="csY8" fmla="*/ 2065254 h 2065254"/>
              <a:gd name="csX9" fmla="*/ 1711898 w 2223244"/>
              <a:gd name="csY9" fmla="*/ 2065254 h 2065254"/>
              <a:gd name="csX10" fmla="*/ 1156087 w 2223244"/>
              <a:gd name="csY10" fmla="*/ 2065254 h 2065254"/>
              <a:gd name="csX11" fmla="*/ 600276 w 2223244"/>
              <a:gd name="csY11" fmla="*/ 2065254 h 2065254"/>
              <a:gd name="csX12" fmla="*/ 0 w 2223244"/>
              <a:gd name="csY12" fmla="*/ 2065254 h 2065254"/>
              <a:gd name="csX13" fmla="*/ 0 w 2223244"/>
              <a:gd name="csY13" fmla="*/ 1507635 h 2065254"/>
              <a:gd name="csX14" fmla="*/ 0 w 2223244"/>
              <a:gd name="csY14" fmla="*/ 950017 h 2065254"/>
              <a:gd name="csX15" fmla="*/ 0 w 2223244"/>
              <a:gd name="csY15" fmla="*/ 0 h 20652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223244" h="2065254" extrusionOk="0">
                <a:moveTo>
                  <a:pt x="0" y="0"/>
                </a:moveTo>
                <a:cubicBezTo>
                  <a:pt x="233149" y="-19713"/>
                  <a:pt x="417659" y="45665"/>
                  <a:pt x="533579" y="0"/>
                </a:cubicBezTo>
                <a:cubicBezTo>
                  <a:pt x="649499" y="-45665"/>
                  <a:pt x="913305" y="29506"/>
                  <a:pt x="1022692" y="0"/>
                </a:cubicBezTo>
                <a:cubicBezTo>
                  <a:pt x="1132079" y="-29506"/>
                  <a:pt x="1325930" y="39475"/>
                  <a:pt x="1622968" y="0"/>
                </a:cubicBezTo>
                <a:cubicBezTo>
                  <a:pt x="1920006" y="-39475"/>
                  <a:pt x="1978053" y="28911"/>
                  <a:pt x="2223244" y="0"/>
                </a:cubicBezTo>
                <a:cubicBezTo>
                  <a:pt x="2226312" y="209860"/>
                  <a:pt x="2180545" y="359659"/>
                  <a:pt x="2223244" y="495661"/>
                </a:cubicBezTo>
                <a:cubicBezTo>
                  <a:pt x="2265943" y="631663"/>
                  <a:pt x="2167648" y="758974"/>
                  <a:pt x="2223244" y="970669"/>
                </a:cubicBezTo>
                <a:cubicBezTo>
                  <a:pt x="2278840" y="1182364"/>
                  <a:pt x="2163704" y="1354936"/>
                  <a:pt x="2223244" y="1486983"/>
                </a:cubicBezTo>
                <a:cubicBezTo>
                  <a:pt x="2282784" y="1619030"/>
                  <a:pt x="2221093" y="1805805"/>
                  <a:pt x="2223244" y="2065254"/>
                </a:cubicBezTo>
                <a:cubicBezTo>
                  <a:pt x="2065933" y="2076408"/>
                  <a:pt x="1922883" y="2022505"/>
                  <a:pt x="1711898" y="2065254"/>
                </a:cubicBezTo>
                <a:cubicBezTo>
                  <a:pt x="1500913" y="2108003"/>
                  <a:pt x="1402117" y="2040715"/>
                  <a:pt x="1156087" y="2065254"/>
                </a:cubicBezTo>
                <a:cubicBezTo>
                  <a:pt x="910057" y="2089793"/>
                  <a:pt x="792961" y="2042327"/>
                  <a:pt x="600276" y="2065254"/>
                </a:cubicBezTo>
                <a:cubicBezTo>
                  <a:pt x="407591" y="2088181"/>
                  <a:pt x="174845" y="2010159"/>
                  <a:pt x="0" y="2065254"/>
                </a:cubicBezTo>
                <a:cubicBezTo>
                  <a:pt x="-61275" y="1942280"/>
                  <a:pt x="9733" y="1660634"/>
                  <a:pt x="0" y="1507635"/>
                </a:cubicBezTo>
                <a:cubicBezTo>
                  <a:pt x="-9733" y="1354636"/>
                  <a:pt x="27816" y="1075743"/>
                  <a:pt x="0" y="950017"/>
                </a:cubicBezTo>
                <a:cubicBezTo>
                  <a:pt x="-27816" y="824291"/>
                  <a:pt x="47862" y="237680"/>
                  <a:pt x="0" y="0"/>
                </a:cubicBezTo>
                <a:close/>
              </a:path>
            </a:pathLst>
          </a:custGeom>
          <a:noFill/>
          <a:ln w="12700">
            <a:solidFill>
              <a:srgbClr val="002C5C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Первым интерпретируемым языком программирования был </a:t>
            </a:r>
            <a:r>
              <a:rPr lang="en-US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Lisp</a:t>
            </a:r>
            <a:r>
              <a:rPr lang="ru-RU" sz="1600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разработанный Джоном Маккарти в 1958 году.</a:t>
            </a:r>
          </a:p>
        </p:txBody>
      </p:sp>
    </p:spTree>
    <p:extLst>
      <p:ext uri="{BB962C8B-B14F-4D97-AF65-F5344CB8AC3E}">
        <p14:creationId xmlns:p14="http://schemas.microsoft.com/office/powerpoint/2010/main" val="1828638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BF737-0AE6-5387-8FAB-FA989DA0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Байт-код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CCDF6D-BB36-0B97-C55E-B071F58F3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Это код, в который был скомпилирован исходный код, написанный программистом.</a:t>
            </a:r>
          </a:p>
          <a:p>
            <a:pPr marL="0" indent="0">
              <a:buNone/>
            </a:pPr>
            <a:r>
              <a:rPr lang="ru-RU" dirty="0"/>
              <a:t>Цель использования байт-кода в том, чтобы интерпретировать не исходный код какого-то языка, а нечто более приближенное к машинному коду, и соответственно, намного более быстро выполняемое интерпретатором, потому что сам интерпретатор можно также «приблизить» к процессору.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Итог: исходный код компилируется в байт-код, и уже он интерпретируется.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Благодаря этому получаем плюсы и компилируемых, и интерпретируемых языков. </a:t>
            </a:r>
            <a:r>
              <a:rPr lang="ru-RU" i="1" u="sng" dirty="0"/>
              <a:t>Минусы правда тоже получаем и тех, и других, но они очень зависимы от контекста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2553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C9A47-9CE3-A34D-9CDE-E24C9AE3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D3843-91BA-36BD-CC82-EDFBC5C8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Виртуальная машина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FE5AD9-76F9-746D-9D1B-50CD8300C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Собственно интерпретатором байт-кода выступает виртуальная машина.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Преимущества:</a:t>
            </a:r>
          </a:p>
          <a:p>
            <a:pPr marL="342000" indent="-342000">
              <a:buFont typeface="Arial" panose="020B0604020202020204" pitchFamily="34" charset="0"/>
              <a:buChar char="‒"/>
            </a:pPr>
            <a:r>
              <a:rPr lang="ru-RU" dirty="0"/>
              <a:t>кроссплатформенность – программа может работать на любом компьютере, где установлена виртуальная машина;</a:t>
            </a:r>
          </a:p>
          <a:p>
            <a:pPr marL="342000" indent="-342000">
              <a:buFont typeface="Arial" panose="020B0604020202020204" pitchFamily="34" charset="0"/>
              <a:buChar char="‒"/>
            </a:pPr>
            <a:r>
              <a:rPr lang="ru-RU" dirty="0"/>
              <a:t>безопасность – как бы разработчик ни старался, все, к чему его программа может получить доступ, это ресурсы, предоставленные виртуальной машине.</a:t>
            </a:r>
          </a:p>
          <a:p>
            <a:pPr marL="0" indent="0">
              <a:buNone/>
            </a:pPr>
            <a:r>
              <a:rPr lang="ru-RU" dirty="0"/>
              <a:t>Недостатки: </a:t>
            </a:r>
          </a:p>
          <a:p>
            <a:pPr marL="342000" indent="-342000">
              <a:buFont typeface="Arial" panose="020B0604020202020204" pitchFamily="34" charset="0"/>
              <a:buChar char="‒"/>
            </a:pPr>
            <a:r>
              <a:rPr lang="ru-RU" dirty="0"/>
              <a:t>у самой виртуальной машины, как таковых нет, инструмент очень крутой и в свое время прорывной.</a:t>
            </a:r>
          </a:p>
        </p:txBody>
      </p:sp>
    </p:spTree>
    <p:extLst>
      <p:ext uri="{BB962C8B-B14F-4D97-AF65-F5344CB8AC3E}">
        <p14:creationId xmlns:p14="http://schemas.microsoft.com/office/powerpoint/2010/main" val="3491864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489AD-1AFC-E5AD-D166-63115222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Исходный код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5F4B6-A9A7-88EE-6C4A-3EB5101FD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package </a:t>
            </a:r>
            <a:r>
              <a:rPr lang="en-US" dirty="0" err="1"/>
              <a:t>org.example</a:t>
            </a:r>
            <a:r>
              <a:rPr lang="en-US" dirty="0"/>
              <a:t>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public class Human {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private String name;</a:t>
            </a:r>
            <a:br>
              <a:rPr lang="en-US" dirty="0"/>
            </a:br>
            <a:r>
              <a:rPr lang="en-US" dirty="0"/>
              <a:t>    private String surname;</a:t>
            </a:r>
            <a:br>
              <a:rPr lang="en-US" dirty="0"/>
            </a:br>
            <a:r>
              <a:rPr lang="en-US" dirty="0"/>
              <a:t>    private int age;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public Human(String name, String surname, int age) {</a:t>
            </a:r>
            <a:br>
              <a:rPr lang="en-US" dirty="0"/>
            </a:br>
            <a:r>
              <a:rPr lang="en-US" dirty="0"/>
              <a:t>        this.name = name;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this.surname</a:t>
            </a:r>
            <a:r>
              <a:rPr lang="en-US" dirty="0"/>
              <a:t> = surname;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this.age</a:t>
            </a:r>
            <a:r>
              <a:rPr lang="en-US" dirty="0"/>
              <a:t> = age;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public String </a:t>
            </a:r>
            <a:r>
              <a:rPr lang="en-US" dirty="0" err="1"/>
              <a:t>getName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    return name;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public String </a:t>
            </a:r>
            <a:r>
              <a:rPr lang="en-US" dirty="0" err="1"/>
              <a:t>getSurname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    return surname;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public int </a:t>
            </a:r>
            <a:r>
              <a:rPr lang="en-US" dirty="0" err="1"/>
              <a:t>getAge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    return age;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public void </a:t>
            </a:r>
            <a:r>
              <a:rPr lang="en-US" dirty="0" err="1"/>
              <a:t>changeName</a:t>
            </a:r>
            <a:r>
              <a:rPr lang="en-US" dirty="0"/>
              <a:t>(String </a:t>
            </a:r>
            <a:r>
              <a:rPr lang="en-US" dirty="0" err="1"/>
              <a:t>newName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        if (</a:t>
            </a:r>
            <a:r>
              <a:rPr lang="en-US" dirty="0" err="1"/>
              <a:t>newName.isBlank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            throw new </a:t>
            </a:r>
            <a:r>
              <a:rPr lang="en-US" dirty="0" err="1"/>
              <a:t>RuntimeException</a:t>
            </a:r>
            <a:r>
              <a:rPr lang="en-US" dirty="0"/>
              <a:t>("invalid name");</a:t>
            </a:r>
            <a:br>
              <a:rPr lang="en-US" dirty="0"/>
            </a:br>
            <a:r>
              <a:rPr lang="en-US" dirty="0"/>
              <a:t>        }</a:t>
            </a:r>
            <a:br>
              <a:rPr lang="en-US" dirty="0"/>
            </a:br>
            <a:r>
              <a:rPr lang="en-US" dirty="0"/>
              <a:t>        this.name = </a:t>
            </a:r>
            <a:r>
              <a:rPr lang="en-US" dirty="0" err="1"/>
              <a:t>newName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5327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F13809-F357-18BD-F87F-CAFBBDF80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Байт-код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926299-FB1D-6278-CE31-0AC2570C5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440000"/>
            <a:ext cx="11473200" cy="5418000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US" sz="1000" dirty="0"/>
              <a:t>// class version 65.0 (65)</a:t>
            </a:r>
          </a:p>
          <a:p>
            <a:pPr marL="0" indent="0">
              <a:buNone/>
            </a:pPr>
            <a:r>
              <a:rPr lang="en-US" sz="1000" dirty="0"/>
              <a:t>// access flags 0x21</a:t>
            </a:r>
            <a:br>
              <a:rPr lang="en-US" sz="1000" dirty="0"/>
            </a:br>
            <a:r>
              <a:rPr lang="en-US" sz="1000" dirty="0"/>
              <a:t>public class org/example/Human {</a:t>
            </a:r>
          </a:p>
          <a:p>
            <a:pPr marL="0" indent="0">
              <a:buNone/>
            </a:pPr>
            <a:r>
              <a:rPr lang="en-US" sz="1000" dirty="0"/>
              <a:t>  // compiled from: Human.java</a:t>
            </a:r>
            <a:br>
              <a:rPr lang="en-US" sz="1000" dirty="0"/>
            </a:br>
            <a:r>
              <a:rPr lang="en-US" sz="1000" dirty="0"/>
              <a:t>  </a:t>
            </a:r>
            <a:br>
              <a:rPr lang="en-US" sz="1000" dirty="0"/>
            </a:br>
            <a:r>
              <a:rPr lang="en-US" sz="1000" dirty="0"/>
              <a:t>  // access flags 0x2</a:t>
            </a:r>
            <a:br>
              <a:rPr lang="en-US" sz="1000" dirty="0"/>
            </a:br>
            <a:r>
              <a:rPr lang="en-US" sz="1000" dirty="0"/>
              <a:t>  private </a:t>
            </a:r>
            <a:r>
              <a:rPr lang="en-US" sz="1000" dirty="0" err="1"/>
              <a:t>Ljava</a:t>
            </a:r>
            <a:r>
              <a:rPr lang="en-US" sz="1000" dirty="0"/>
              <a:t>/lang/String; name</a:t>
            </a:r>
          </a:p>
          <a:p>
            <a:pPr marL="0" indent="0">
              <a:buNone/>
            </a:pPr>
            <a:r>
              <a:rPr lang="en-US" sz="1000" dirty="0"/>
              <a:t>  // access flags 0x2</a:t>
            </a:r>
            <a:br>
              <a:rPr lang="en-US" sz="1000" dirty="0"/>
            </a:br>
            <a:r>
              <a:rPr lang="en-US" sz="1000" dirty="0"/>
              <a:t>  private </a:t>
            </a:r>
            <a:r>
              <a:rPr lang="en-US" sz="1000" dirty="0" err="1"/>
              <a:t>Ljava</a:t>
            </a:r>
            <a:r>
              <a:rPr lang="en-US" sz="1000" dirty="0"/>
              <a:t>/lang/String; surname</a:t>
            </a:r>
          </a:p>
          <a:p>
            <a:pPr marL="0" indent="0">
              <a:buNone/>
            </a:pPr>
            <a:r>
              <a:rPr lang="en-US" sz="1000" dirty="0"/>
              <a:t>  // access flags 0x2</a:t>
            </a:r>
            <a:br>
              <a:rPr lang="en-US" sz="1000" dirty="0"/>
            </a:br>
            <a:r>
              <a:rPr lang="en-US" sz="1000" dirty="0"/>
              <a:t>  private I age</a:t>
            </a:r>
          </a:p>
          <a:p>
            <a:pPr marL="0" indent="0">
              <a:buNone/>
            </a:pPr>
            <a:r>
              <a:rPr lang="en-US" sz="1000" dirty="0"/>
              <a:t>  // access flags 0x1</a:t>
            </a:r>
            <a:br>
              <a:rPr lang="en-US" sz="1000" dirty="0"/>
            </a:br>
            <a:r>
              <a:rPr lang="en-US" sz="1000" dirty="0"/>
              <a:t>  public &lt;</a:t>
            </a:r>
            <a:r>
              <a:rPr lang="en-US" sz="1000" dirty="0" err="1"/>
              <a:t>init</a:t>
            </a:r>
            <a:r>
              <a:rPr lang="en-US" sz="1000" dirty="0"/>
              <a:t>&gt;(</a:t>
            </a:r>
            <a:r>
              <a:rPr lang="en-US" sz="1000" dirty="0" err="1"/>
              <a:t>Ljava</a:t>
            </a:r>
            <a:r>
              <a:rPr lang="en-US" sz="1000" dirty="0"/>
              <a:t>/lang/</a:t>
            </a:r>
            <a:r>
              <a:rPr lang="en-US" sz="1000" dirty="0" err="1"/>
              <a:t>String;Ljava</a:t>
            </a:r>
            <a:r>
              <a:rPr lang="en-US" sz="1000" dirty="0"/>
              <a:t>/lang/</a:t>
            </a:r>
            <a:r>
              <a:rPr lang="en-US" sz="1000" dirty="0" err="1"/>
              <a:t>String;I</a:t>
            </a:r>
            <a:r>
              <a:rPr lang="en-US" sz="1000" dirty="0"/>
              <a:t>)V</a:t>
            </a:r>
            <a:br>
              <a:rPr lang="en-US" sz="1000" dirty="0"/>
            </a:br>
            <a:r>
              <a:rPr lang="en-US" sz="1000" dirty="0"/>
              <a:t>    L0</a:t>
            </a:r>
            <a:br>
              <a:rPr lang="en-US" sz="1000" dirty="0"/>
            </a:br>
            <a:r>
              <a:rPr lang="en-US" sz="1000" dirty="0"/>
              <a:t>      LINENUMBER 9 L0</a:t>
            </a:r>
            <a:br>
              <a:rPr lang="en-US" sz="1000" dirty="0"/>
            </a:br>
            <a:r>
              <a:rPr lang="en-US" sz="1000" dirty="0"/>
              <a:t>      ALOAD 0</a:t>
            </a:r>
            <a:br>
              <a:rPr lang="en-US" sz="1000" dirty="0"/>
            </a:br>
            <a:r>
              <a:rPr lang="en-US" sz="1000" dirty="0"/>
              <a:t>      INVOKESPECIAL java/lang/Object.&lt;</a:t>
            </a:r>
            <a:r>
              <a:rPr lang="en-US" sz="1000" dirty="0" err="1"/>
              <a:t>init</a:t>
            </a:r>
            <a:r>
              <a:rPr lang="en-US" sz="1000" dirty="0"/>
              <a:t>&gt; ()V</a:t>
            </a:r>
            <a:br>
              <a:rPr lang="en-US" sz="1000" dirty="0"/>
            </a:br>
            <a:r>
              <a:rPr lang="en-US" sz="1000" dirty="0"/>
              <a:t>    L1</a:t>
            </a:r>
            <a:br>
              <a:rPr lang="en-US" sz="1000" dirty="0"/>
            </a:br>
            <a:r>
              <a:rPr lang="en-US" sz="1000" dirty="0"/>
              <a:t>      LINENUMBER 10 L1</a:t>
            </a:r>
            <a:br>
              <a:rPr lang="en-US" sz="1000" dirty="0"/>
            </a:br>
            <a:r>
              <a:rPr lang="en-US" sz="1000" dirty="0"/>
              <a:t>      ALOAD 0</a:t>
            </a:r>
            <a:br>
              <a:rPr lang="en-US" sz="1000" dirty="0"/>
            </a:br>
            <a:r>
              <a:rPr lang="en-US" sz="1000" dirty="0"/>
              <a:t>      ALOAD 1</a:t>
            </a:r>
            <a:br>
              <a:rPr lang="en-US" sz="1000" dirty="0"/>
            </a:br>
            <a:r>
              <a:rPr lang="en-US" sz="1000" dirty="0"/>
              <a:t>      PUTFIELD org/example/Human.name : </a:t>
            </a:r>
            <a:r>
              <a:rPr lang="en-US" sz="1000" dirty="0" err="1"/>
              <a:t>Ljava</a:t>
            </a:r>
            <a:r>
              <a:rPr lang="en-US" sz="1000" dirty="0"/>
              <a:t>/lang/String;</a:t>
            </a:r>
            <a:br>
              <a:rPr lang="en-US" sz="1000" dirty="0"/>
            </a:br>
            <a:r>
              <a:rPr lang="en-US" sz="1000" dirty="0"/>
              <a:t>    L2</a:t>
            </a:r>
            <a:br>
              <a:rPr lang="en-US" sz="1000" dirty="0"/>
            </a:br>
            <a:r>
              <a:rPr lang="en-US" sz="1000" dirty="0"/>
              <a:t>      LINENUMBER 11 L2</a:t>
            </a:r>
            <a:br>
              <a:rPr lang="en-US" sz="1000" dirty="0"/>
            </a:br>
            <a:r>
              <a:rPr lang="en-US" sz="1000" dirty="0"/>
              <a:t>      ALOAD 0</a:t>
            </a:r>
            <a:br>
              <a:rPr lang="en-US" sz="1000" dirty="0"/>
            </a:br>
            <a:r>
              <a:rPr lang="en-US" sz="1000" dirty="0"/>
              <a:t>      ALOAD 2</a:t>
            </a:r>
            <a:br>
              <a:rPr lang="en-US" sz="1000" dirty="0"/>
            </a:br>
            <a:r>
              <a:rPr lang="en-US" sz="1000" dirty="0"/>
              <a:t>      PUTFIELD org/example/</a:t>
            </a:r>
            <a:r>
              <a:rPr lang="en-US" sz="1000" dirty="0" err="1"/>
              <a:t>Human.surname</a:t>
            </a:r>
            <a:r>
              <a:rPr lang="en-US" sz="1000" dirty="0"/>
              <a:t> : </a:t>
            </a:r>
            <a:r>
              <a:rPr lang="en-US" sz="1000" dirty="0" err="1"/>
              <a:t>Ljava</a:t>
            </a:r>
            <a:r>
              <a:rPr lang="en-US" sz="1000" dirty="0"/>
              <a:t>/lang/String;</a:t>
            </a:r>
            <a:br>
              <a:rPr lang="en-US" sz="1000" dirty="0"/>
            </a:br>
            <a:r>
              <a:rPr lang="en-US" sz="1000" dirty="0"/>
              <a:t>    L3</a:t>
            </a:r>
            <a:br>
              <a:rPr lang="en-US" sz="1000" dirty="0"/>
            </a:br>
            <a:r>
              <a:rPr lang="en-US" sz="1000" dirty="0"/>
              <a:t>      LINENUMBER 12 L3</a:t>
            </a:r>
            <a:br>
              <a:rPr lang="en-US" sz="1000" dirty="0"/>
            </a:br>
            <a:r>
              <a:rPr lang="en-US" sz="1000" dirty="0"/>
              <a:t>      ALOAD 0</a:t>
            </a:r>
            <a:br>
              <a:rPr lang="en-US" sz="1000" dirty="0"/>
            </a:br>
            <a:r>
              <a:rPr lang="en-US" sz="1000" dirty="0"/>
              <a:t>      ILOAD 3</a:t>
            </a:r>
            <a:br>
              <a:rPr lang="en-US" sz="1000" dirty="0"/>
            </a:br>
            <a:r>
              <a:rPr lang="en-US" sz="1000" dirty="0"/>
              <a:t>      PUTFIELD org/example/</a:t>
            </a:r>
            <a:r>
              <a:rPr lang="en-US" sz="1000" dirty="0" err="1"/>
              <a:t>Human.age</a:t>
            </a:r>
            <a:r>
              <a:rPr lang="en-US" sz="1000" dirty="0"/>
              <a:t> : I</a:t>
            </a:r>
            <a:br>
              <a:rPr lang="en-US" sz="1000" dirty="0"/>
            </a:br>
            <a:r>
              <a:rPr lang="en-US" sz="1000" dirty="0"/>
              <a:t>    L4</a:t>
            </a:r>
            <a:br>
              <a:rPr lang="en-US" sz="1000" dirty="0"/>
            </a:br>
            <a:r>
              <a:rPr lang="en-US" sz="1000" dirty="0"/>
              <a:t>      LINENUMBER 13 L4</a:t>
            </a:r>
            <a:br>
              <a:rPr lang="en-US" sz="1000" dirty="0"/>
            </a:br>
            <a:r>
              <a:rPr lang="en-US" sz="1000" dirty="0"/>
              <a:t>      RETURN</a:t>
            </a:r>
            <a:br>
              <a:rPr lang="en-US" sz="1000" dirty="0"/>
            </a:br>
            <a:r>
              <a:rPr lang="en-US" sz="1000" dirty="0"/>
              <a:t>    L5</a:t>
            </a:r>
            <a:br>
              <a:rPr lang="en-US" sz="1000" dirty="0"/>
            </a:br>
            <a:r>
              <a:rPr lang="en-US" sz="1000" dirty="0"/>
              <a:t>      LOCALVARIABLE this Lorg/example/Human; L0 L5 0</a:t>
            </a:r>
            <a:br>
              <a:rPr lang="en-US" sz="1000" dirty="0"/>
            </a:br>
            <a:r>
              <a:rPr lang="en-US" sz="1000" dirty="0"/>
              <a:t>      LOCALVARIABLE name </a:t>
            </a:r>
            <a:r>
              <a:rPr lang="en-US" sz="1000" dirty="0" err="1"/>
              <a:t>Ljava</a:t>
            </a:r>
            <a:r>
              <a:rPr lang="en-US" sz="1000" dirty="0"/>
              <a:t>/lang/String; L0 L5 1</a:t>
            </a:r>
            <a:br>
              <a:rPr lang="en-US" sz="1000" dirty="0"/>
            </a:br>
            <a:r>
              <a:rPr lang="en-US" sz="1000" dirty="0"/>
              <a:t>      LOCALVARIABLE surname </a:t>
            </a:r>
            <a:r>
              <a:rPr lang="en-US" sz="1000" dirty="0" err="1"/>
              <a:t>Ljava</a:t>
            </a:r>
            <a:r>
              <a:rPr lang="en-US" sz="1000" dirty="0"/>
              <a:t>/lang/String; L0 L5 2</a:t>
            </a:r>
            <a:br>
              <a:rPr lang="en-US" sz="1000" dirty="0"/>
            </a:br>
            <a:r>
              <a:rPr lang="en-US" sz="1000" dirty="0"/>
              <a:t>      LOCALVARIABLE age I L0 L5 3</a:t>
            </a:r>
            <a:br>
              <a:rPr lang="en-US" sz="1000" dirty="0"/>
            </a:br>
            <a:r>
              <a:rPr lang="en-US" sz="1000" dirty="0"/>
              <a:t>      MAXSTACK = 2</a:t>
            </a:r>
            <a:br>
              <a:rPr lang="en-US" sz="1000" dirty="0"/>
            </a:br>
            <a:r>
              <a:rPr lang="en-US" sz="1000" dirty="0"/>
              <a:t>      MAXLOCALS = 4</a:t>
            </a:r>
            <a:endParaRPr lang="ru-RU" sz="1000" dirty="0"/>
          </a:p>
          <a:p>
            <a:pPr marL="0" indent="0">
              <a:buNone/>
            </a:pPr>
            <a:br>
              <a:rPr lang="en-US" sz="1000" dirty="0"/>
            </a:br>
            <a:r>
              <a:rPr lang="en-US" sz="1000" dirty="0"/>
              <a:t>  // access flags 0x1</a:t>
            </a:r>
            <a:br>
              <a:rPr lang="en-US" sz="1000" dirty="0"/>
            </a:br>
            <a:r>
              <a:rPr lang="en-US" sz="1000" dirty="0"/>
              <a:t>  public </a:t>
            </a:r>
            <a:r>
              <a:rPr lang="en-US" sz="1000" dirty="0" err="1"/>
              <a:t>getName</a:t>
            </a:r>
            <a:r>
              <a:rPr lang="en-US" sz="1000" dirty="0"/>
              <a:t>()</a:t>
            </a:r>
            <a:r>
              <a:rPr lang="en-US" sz="1000" dirty="0" err="1"/>
              <a:t>Ljava</a:t>
            </a:r>
            <a:r>
              <a:rPr lang="en-US" sz="1000" dirty="0"/>
              <a:t>/lang/String;</a:t>
            </a:r>
            <a:br>
              <a:rPr lang="en-US" sz="1000" dirty="0"/>
            </a:br>
            <a:r>
              <a:rPr lang="en-US" sz="1000" dirty="0"/>
              <a:t>    L0</a:t>
            </a:r>
            <a:br>
              <a:rPr lang="en-US" sz="1000" dirty="0"/>
            </a:br>
            <a:r>
              <a:rPr lang="en-US" sz="1000" dirty="0"/>
              <a:t>      LINENUMBER 16 L0</a:t>
            </a:r>
            <a:br>
              <a:rPr lang="en-US" sz="1000" dirty="0"/>
            </a:br>
            <a:r>
              <a:rPr lang="en-US" sz="1000" dirty="0"/>
              <a:t>      ALOAD 0</a:t>
            </a:r>
            <a:br>
              <a:rPr lang="en-US" sz="1000" dirty="0"/>
            </a:br>
            <a:r>
              <a:rPr lang="en-US" sz="1000" dirty="0"/>
              <a:t>      GETFIELD org/example/Human.name : </a:t>
            </a:r>
            <a:r>
              <a:rPr lang="en-US" sz="1000" dirty="0" err="1"/>
              <a:t>Ljava</a:t>
            </a:r>
            <a:r>
              <a:rPr lang="en-US" sz="1000" dirty="0"/>
              <a:t>/lang/String;</a:t>
            </a:r>
            <a:br>
              <a:rPr lang="en-US" sz="1000" dirty="0"/>
            </a:br>
            <a:r>
              <a:rPr lang="en-US" sz="1000" dirty="0"/>
              <a:t>      ARETURN</a:t>
            </a:r>
            <a:br>
              <a:rPr lang="en-US" sz="1000" dirty="0"/>
            </a:br>
            <a:r>
              <a:rPr lang="en-US" sz="1000" dirty="0"/>
              <a:t>    L1</a:t>
            </a:r>
            <a:br>
              <a:rPr lang="en-US" sz="1000" dirty="0"/>
            </a:br>
            <a:r>
              <a:rPr lang="en-US" sz="1000" dirty="0"/>
              <a:t>      LOCALVARIABLE this Lorg/example/Human; L0 L1 0</a:t>
            </a:r>
            <a:br>
              <a:rPr lang="en-US" sz="1000" dirty="0"/>
            </a:br>
            <a:r>
              <a:rPr lang="en-US" sz="1000" dirty="0"/>
              <a:t>      MAXSTACK = 1</a:t>
            </a:r>
            <a:br>
              <a:rPr lang="en-US" sz="1000" dirty="0"/>
            </a:br>
            <a:r>
              <a:rPr lang="en-US" sz="1000" dirty="0"/>
              <a:t>      MAXLOCALS = 1</a:t>
            </a:r>
          </a:p>
          <a:p>
            <a:pPr marL="0" indent="0">
              <a:buNone/>
            </a:pPr>
            <a:r>
              <a:rPr lang="en-US" sz="1000" dirty="0"/>
              <a:t>  // access flags 0x1</a:t>
            </a:r>
            <a:br>
              <a:rPr lang="en-US" sz="1000" dirty="0"/>
            </a:br>
            <a:r>
              <a:rPr lang="en-US" sz="1000" dirty="0"/>
              <a:t>  public </a:t>
            </a:r>
            <a:r>
              <a:rPr lang="en-US" sz="1000" dirty="0" err="1"/>
              <a:t>getSurname</a:t>
            </a:r>
            <a:r>
              <a:rPr lang="en-US" sz="1000" dirty="0"/>
              <a:t>()</a:t>
            </a:r>
            <a:r>
              <a:rPr lang="en-US" sz="1000" dirty="0" err="1"/>
              <a:t>Ljava</a:t>
            </a:r>
            <a:r>
              <a:rPr lang="en-US" sz="1000" dirty="0"/>
              <a:t>/lang/String;</a:t>
            </a:r>
            <a:br>
              <a:rPr lang="en-US" sz="1000" dirty="0"/>
            </a:br>
            <a:r>
              <a:rPr lang="en-US" sz="1000" dirty="0"/>
              <a:t>    L0</a:t>
            </a:r>
            <a:br>
              <a:rPr lang="en-US" sz="1000" dirty="0"/>
            </a:br>
            <a:r>
              <a:rPr lang="en-US" sz="1000" dirty="0"/>
              <a:t>      LINENUMBER 20 L0</a:t>
            </a:r>
            <a:br>
              <a:rPr lang="en-US" sz="1000" dirty="0"/>
            </a:br>
            <a:r>
              <a:rPr lang="en-US" sz="1000" dirty="0"/>
              <a:t>      ALOAD 0</a:t>
            </a:r>
            <a:br>
              <a:rPr lang="en-US" sz="1000" dirty="0"/>
            </a:br>
            <a:r>
              <a:rPr lang="en-US" sz="1000" dirty="0"/>
              <a:t>      GETFIELD org/example/</a:t>
            </a:r>
            <a:r>
              <a:rPr lang="en-US" sz="1000" dirty="0" err="1"/>
              <a:t>Human.surname</a:t>
            </a:r>
            <a:r>
              <a:rPr lang="en-US" sz="1000" dirty="0"/>
              <a:t> : </a:t>
            </a:r>
            <a:r>
              <a:rPr lang="en-US" sz="1000" dirty="0" err="1"/>
              <a:t>Ljava</a:t>
            </a:r>
            <a:r>
              <a:rPr lang="en-US" sz="1000" dirty="0"/>
              <a:t>/lang/String;</a:t>
            </a:r>
            <a:br>
              <a:rPr lang="en-US" sz="1000" dirty="0"/>
            </a:br>
            <a:r>
              <a:rPr lang="en-US" sz="1000" dirty="0"/>
              <a:t>      ARETURN</a:t>
            </a:r>
            <a:br>
              <a:rPr lang="en-US" sz="1000" dirty="0"/>
            </a:br>
            <a:r>
              <a:rPr lang="en-US" sz="1000" dirty="0"/>
              <a:t>    L1</a:t>
            </a:r>
            <a:br>
              <a:rPr lang="en-US" sz="1000" dirty="0"/>
            </a:br>
            <a:r>
              <a:rPr lang="en-US" sz="1000" dirty="0"/>
              <a:t>      LOCALVARIABLE this Lorg/example/Human; L0 L1 0</a:t>
            </a:r>
            <a:br>
              <a:rPr lang="en-US" sz="1000" dirty="0"/>
            </a:br>
            <a:r>
              <a:rPr lang="en-US" sz="1000" dirty="0"/>
              <a:t>      MAXSTACK = 1</a:t>
            </a:r>
            <a:br>
              <a:rPr lang="en-US" sz="1000" dirty="0"/>
            </a:br>
            <a:r>
              <a:rPr lang="en-US" sz="1000" dirty="0"/>
              <a:t>      MAXLOCALS = 1</a:t>
            </a:r>
            <a:endParaRPr lang="ru-RU" sz="1000" dirty="0"/>
          </a:p>
          <a:p>
            <a:pPr marL="0" indent="0">
              <a:buNone/>
            </a:pPr>
            <a:br>
              <a:rPr lang="ru-RU" sz="1000" dirty="0"/>
            </a:br>
            <a:r>
              <a:rPr lang="ru-RU" sz="1000" dirty="0"/>
              <a:t>  </a:t>
            </a:r>
            <a:r>
              <a:rPr lang="en-US" sz="1000" dirty="0"/>
              <a:t>// access flags 0x1</a:t>
            </a:r>
            <a:br>
              <a:rPr lang="en-US" sz="1000" dirty="0"/>
            </a:br>
            <a:r>
              <a:rPr lang="en-US" sz="1000" dirty="0"/>
              <a:t>  public </a:t>
            </a:r>
            <a:r>
              <a:rPr lang="en-US" sz="1000" dirty="0" err="1"/>
              <a:t>getAge</a:t>
            </a:r>
            <a:r>
              <a:rPr lang="en-US" sz="1000" dirty="0"/>
              <a:t>()I</a:t>
            </a:r>
            <a:br>
              <a:rPr lang="en-US" sz="1000" dirty="0"/>
            </a:br>
            <a:r>
              <a:rPr lang="en-US" sz="1000" dirty="0"/>
              <a:t>    L0</a:t>
            </a:r>
            <a:br>
              <a:rPr lang="en-US" sz="1000" dirty="0"/>
            </a:br>
            <a:r>
              <a:rPr lang="en-US" sz="1000" dirty="0"/>
              <a:t>      LINENUMBER 24 L0</a:t>
            </a:r>
            <a:br>
              <a:rPr lang="en-US" sz="1000" dirty="0"/>
            </a:br>
            <a:r>
              <a:rPr lang="en-US" sz="1000" dirty="0"/>
              <a:t>      ALOAD 0</a:t>
            </a:r>
            <a:br>
              <a:rPr lang="en-US" sz="1000" dirty="0"/>
            </a:br>
            <a:r>
              <a:rPr lang="en-US" sz="1000" dirty="0"/>
              <a:t>      GETFIELD org/example/</a:t>
            </a:r>
            <a:r>
              <a:rPr lang="en-US" sz="1000" dirty="0" err="1"/>
              <a:t>Human.age</a:t>
            </a:r>
            <a:r>
              <a:rPr lang="en-US" sz="1000" dirty="0"/>
              <a:t> : I</a:t>
            </a:r>
            <a:br>
              <a:rPr lang="en-US" sz="1000" dirty="0"/>
            </a:br>
            <a:r>
              <a:rPr lang="en-US" sz="1000" dirty="0"/>
              <a:t>      IRETURN</a:t>
            </a:r>
            <a:br>
              <a:rPr lang="en-US" sz="1000" dirty="0"/>
            </a:br>
            <a:r>
              <a:rPr lang="en-US" sz="1000" dirty="0"/>
              <a:t>    L1</a:t>
            </a:r>
            <a:br>
              <a:rPr lang="en-US" sz="1000" dirty="0"/>
            </a:br>
            <a:r>
              <a:rPr lang="en-US" sz="1000" dirty="0"/>
              <a:t>      LOCALVARIABLE this Lorg/example/Human; L0 L1 0</a:t>
            </a:r>
            <a:br>
              <a:rPr lang="en-US" sz="1000" dirty="0"/>
            </a:br>
            <a:r>
              <a:rPr lang="en-US" sz="1000" dirty="0"/>
              <a:t>      MAXSTACK = 1</a:t>
            </a:r>
            <a:br>
              <a:rPr lang="en-US" sz="1000" dirty="0"/>
            </a:br>
            <a:r>
              <a:rPr lang="en-US" sz="1000" dirty="0"/>
              <a:t>      MAXLOCALS = 1</a:t>
            </a:r>
            <a:endParaRPr lang="ru-RU" sz="1000" dirty="0"/>
          </a:p>
          <a:p>
            <a:pPr marL="0" indent="0">
              <a:buNone/>
            </a:pPr>
            <a:br>
              <a:rPr lang="en-US" sz="1000" dirty="0"/>
            </a:br>
            <a:r>
              <a:rPr lang="en-US" sz="1000" dirty="0"/>
              <a:t>  // access flags 0x1</a:t>
            </a:r>
            <a:br>
              <a:rPr lang="en-US" sz="1000" dirty="0"/>
            </a:br>
            <a:r>
              <a:rPr lang="en-US" sz="1000" dirty="0"/>
              <a:t>  public </a:t>
            </a:r>
            <a:r>
              <a:rPr lang="en-US" sz="1000" dirty="0" err="1"/>
              <a:t>changeName</a:t>
            </a:r>
            <a:r>
              <a:rPr lang="en-US" sz="1000" dirty="0"/>
              <a:t>(</a:t>
            </a:r>
            <a:r>
              <a:rPr lang="en-US" sz="1000" dirty="0" err="1"/>
              <a:t>Ljava</a:t>
            </a:r>
            <a:r>
              <a:rPr lang="en-US" sz="1000" dirty="0"/>
              <a:t>/lang/String;)V</a:t>
            </a:r>
            <a:br>
              <a:rPr lang="en-US" sz="1000" dirty="0"/>
            </a:br>
            <a:r>
              <a:rPr lang="en-US" sz="1000" dirty="0"/>
              <a:t>    L0</a:t>
            </a:r>
            <a:br>
              <a:rPr lang="en-US" sz="1000" dirty="0"/>
            </a:br>
            <a:r>
              <a:rPr lang="en-US" sz="1000" dirty="0"/>
              <a:t>      LINENUMBER 28 L0</a:t>
            </a:r>
            <a:br>
              <a:rPr lang="en-US" sz="1000" dirty="0"/>
            </a:br>
            <a:r>
              <a:rPr lang="en-US" sz="1000" dirty="0"/>
              <a:t>      ALOAD 1</a:t>
            </a:r>
            <a:br>
              <a:rPr lang="en-US" sz="1000" dirty="0"/>
            </a:br>
            <a:r>
              <a:rPr lang="en-US" sz="1000" dirty="0"/>
              <a:t>      INVOKEVIRTUAL java/lang/</a:t>
            </a:r>
            <a:r>
              <a:rPr lang="en-US" sz="1000" dirty="0" err="1"/>
              <a:t>String.isBlank</a:t>
            </a:r>
            <a:r>
              <a:rPr lang="en-US" sz="1000" dirty="0"/>
              <a:t> ()Z</a:t>
            </a:r>
            <a:br>
              <a:rPr lang="en-US" sz="1000" dirty="0"/>
            </a:br>
            <a:r>
              <a:rPr lang="en-US" sz="1000" dirty="0"/>
              <a:t>      IFEQ L1</a:t>
            </a:r>
            <a:br>
              <a:rPr lang="en-US" sz="1000" dirty="0"/>
            </a:br>
            <a:r>
              <a:rPr lang="en-US" sz="1000" dirty="0"/>
              <a:t>    L2</a:t>
            </a:r>
            <a:br>
              <a:rPr lang="en-US" sz="1000" dirty="0"/>
            </a:br>
            <a:r>
              <a:rPr lang="en-US" sz="1000" dirty="0"/>
              <a:t>      LINENUMBER 29 L2</a:t>
            </a:r>
            <a:br>
              <a:rPr lang="en-US" sz="1000" dirty="0"/>
            </a:br>
            <a:r>
              <a:rPr lang="en-US" sz="1000" dirty="0"/>
              <a:t>      NEW java/lang/</a:t>
            </a:r>
            <a:r>
              <a:rPr lang="en-US" sz="1000" dirty="0" err="1"/>
              <a:t>RuntimeException</a:t>
            </a:r>
            <a:br>
              <a:rPr lang="en-US" sz="1000" dirty="0"/>
            </a:br>
            <a:r>
              <a:rPr lang="en-US" sz="1000" dirty="0"/>
              <a:t>      DUP</a:t>
            </a:r>
            <a:br>
              <a:rPr lang="en-US" sz="1000" dirty="0"/>
            </a:br>
            <a:r>
              <a:rPr lang="en-US" sz="1000" dirty="0"/>
              <a:t>      LDC "invalid name“</a:t>
            </a:r>
            <a:br>
              <a:rPr lang="en-US" sz="1000" dirty="0"/>
            </a:br>
            <a:r>
              <a:rPr lang="en-US" sz="1000" dirty="0"/>
              <a:t>      INVOKESPECIAL java/lang/</a:t>
            </a:r>
            <a:r>
              <a:rPr lang="en-US" sz="1000" dirty="0" err="1"/>
              <a:t>RuntimeException</a:t>
            </a:r>
            <a:r>
              <a:rPr lang="en-US" sz="1000" dirty="0"/>
              <a:t>.&lt;</a:t>
            </a:r>
            <a:r>
              <a:rPr lang="en-US" sz="1000" dirty="0" err="1"/>
              <a:t>init</a:t>
            </a:r>
            <a:r>
              <a:rPr lang="en-US" sz="1000" dirty="0"/>
              <a:t>&gt; (</a:t>
            </a:r>
            <a:r>
              <a:rPr lang="en-US" sz="1000" dirty="0" err="1"/>
              <a:t>Ljava</a:t>
            </a:r>
            <a:r>
              <a:rPr lang="en-US" sz="1000" dirty="0"/>
              <a:t>/lang/String;)V</a:t>
            </a:r>
            <a:br>
              <a:rPr lang="en-US" sz="1000" dirty="0"/>
            </a:br>
            <a:r>
              <a:rPr lang="en-US" sz="1000" dirty="0"/>
              <a:t>      ATHROW</a:t>
            </a:r>
            <a:br>
              <a:rPr lang="en-US" sz="1000" dirty="0"/>
            </a:br>
            <a:r>
              <a:rPr lang="en-US" sz="1000" dirty="0"/>
              <a:t>    L1</a:t>
            </a:r>
            <a:br>
              <a:rPr lang="en-US" sz="1000" dirty="0"/>
            </a:br>
            <a:r>
              <a:rPr lang="en-US" sz="1000" dirty="0"/>
              <a:t>      LINENUMBER 31 L1</a:t>
            </a:r>
            <a:br>
              <a:rPr lang="en-US" sz="1000" dirty="0"/>
            </a:br>
            <a:r>
              <a:rPr lang="en-US" sz="1000" dirty="0"/>
              <a:t>      ALOAD 0</a:t>
            </a:r>
            <a:br>
              <a:rPr lang="en-US" sz="1000" dirty="0"/>
            </a:br>
            <a:r>
              <a:rPr lang="en-US" sz="1000" dirty="0"/>
              <a:t>      ALOAD 1</a:t>
            </a:r>
            <a:br>
              <a:rPr lang="en-US" sz="1000" dirty="0"/>
            </a:br>
            <a:r>
              <a:rPr lang="en-US" sz="1000" dirty="0"/>
              <a:t>      PUTFIELD org/example/Human.name : </a:t>
            </a:r>
            <a:r>
              <a:rPr lang="en-US" sz="1000" dirty="0" err="1"/>
              <a:t>Ljava</a:t>
            </a:r>
            <a:r>
              <a:rPr lang="en-US" sz="1000" dirty="0"/>
              <a:t>/lang/String;</a:t>
            </a:r>
            <a:br>
              <a:rPr lang="en-US" sz="1000" dirty="0"/>
            </a:br>
            <a:r>
              <a:rPr lang="en-US" sz="1000" dirty="0"/>
              <a:t>    L3</a:t>
            </a:r>
            <a:br>
              <a:rPr lang="en-US" sz="1000" dirty="0"/>
            </a:br>
            <a:r>
              <a:rPr lang="en-US" sz="1000" dirty="0"/>
              <a:t>      LINENUMBER 32 L3</a:t>
            </a:r>
            <a:br>
              <a:rPr lang="en-US" sz="1000" dirty="0"/>
            </a:br>
            <a:r>
              <a:rPr lang="en-US" sz="1000" dirty="0"/>
              <a:t>      RETURN</a:t>
            </a:r>
            <a:br>
              <a:rPr lang="en-US" sz="1000" dirty="0"/>
            </a:br>
            <a:r>
              <a:rPr lang="en-US" sz="1000" dirty="0"/>
              <a:t>    L4</a:t>
            </a:r>
            <a:br>
              <a:rPr lang="en-US" sz="1000" dirty="0"/>
            </a:br>
            <a:r>
              <a:rPr lang="en-US" sz="1000" dirty="0"/>
              <a:t>      LOCALVARIABLE this Lorg/example/Human; L0 L4 0</a:t>
            </a:r>
            <a:br>
              <a:rPr lang="en-US" sz="1000" dirty="0"/>
            </a:br>
            <a:r>
              <a:rPr lang="en-US" sz="1000" dirty="0"/>
              <a:t>      LOCALVARIABLE </a:t>
            </a:r>
            <a:r>
              <a:rPr lang="en-US" sz="1000" dirty="0" err="1"/>
              <a:t>newName</a:t>
            </a:r>
            <a:r>
              <a:rPr lang="en-US" sz="1000" dirty="0"/>
              <a:t> </a:t>
            </a:r>
            <a:r>
              <a:rPr lang="en-US" sz="1000" dirty="0" err="1"/>
              <a:t>Ljava</a:t>
            </a:r>
            <a:r>
              <a:rPr lang="en-US" sz="1000" dirty="0"/>
              <a:t>/lang/String; L0 L4 1</a:t>
            </a:r>
            <a:br>
              <a:rPr lang="en-US" sz="1000" dirty="0"/>
            </a:br>
            <a:r>
              <a:rPr lang="en-US" sz="1000" dirty="0"/>
              <a:t>      MAXSTACK = 3</a:t>
            </a:r>
            <a:br>
              <a:rPr lang="en-US" sz="1000" dirty="0"/>
            </a:br>
            <a:r>
              <a:rPr lang="en-US" sz="1000" dirty="0"/>
              <a:t>      MAXLOCALS = 2</a:t>
            </a:r>
            <a:br>
              <a:rPr lang="en-US" sz="1000" dirty="0"/>
            </a:br>
            <a:r>
              <a:rPr lang="en-US" sz="1000" dirty="0"/>
              <a:t>}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2008042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FC159-309E-FA18-4F53-7495BD13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DF86E6-24A8-1F13-98EF-2A29161AC7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6" r="17016"/>
          <a:stretch/>
        </p:blipFill>
        <p:spPr>
          <a:xfrm>
            <a:off x="4492015" y="998550"/>
            <a:ext cx="3207969" cy="4860900"/>
          </a:xfrm>
          <a:effectLst/>
        </p:spPr>
      </p:pic>
    </p:spTree>
    <p:extLst>
      <p:ext uri="{BB962C8B-B14F-4D97-AF65-F5344CB8AC3E}">
        <p14:creationId xmlns:p14="http://schemas.microsoft.com/office/powerpoint/2010/main" val="367578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3102387-7991-B1D0-DAB7-DE1767005DA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5" r="4075" b="493"/>
          <a:stretch>
            <a:fillRect/>
          </a:stretch>
        </p:blipFill>
        <p:spPr>
          <a:xfrm>
            <a:off x="7797600" y="360000"/>
            <a:ext cx="4048710" cy="6138000"/>
          </a:xfrm>
          <a:effectLst>
            <a:outerShdw blurRad="127000" dist="38100" sx="103000" sy="103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FAEE5341-DD37-CA8D-78C1-E1BC7C92E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354250"/>
            <a:ext cx="7077000" cy="6138000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2. Краткий обзор языка </a:t>
            </a:r>
            <a:r>
              <a:rPr lang="en-US" dirty="0"/>
              <a:t>Java</a:t>
            </a:r>
            <a:r>
              <a:rPr lang="ru-RU" dirty="0"/>
              <a:t>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3. Типы данных, переменные и массивы.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4. Операции.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5. Управляющие операторы.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6. Введение в классы.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7. Подробный анализ методов и классов.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b="1" dirty="0"/>
              <a:t>Глава 8. Наследование.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9. Пакеты и интерфейсы.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b="1" dirty="0"/>
              <a:t>Глава 10. Обработка исключений.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12. Перечисления, автоупаковка и аннотации.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13. Ввод-вывод, оператор try с ресурсами и другие темы.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14. Обобщения.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b="1" dirty="0"/>
              <a:t>Глава 15. Лямбда-выражения.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17. Выражения switch, записи и прочие недавно добавленные средства.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b="1" dirty="0"/>
              <a:t>Глава 18. Обработка строк.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dirty="0"/>
              <a:t>Глава 19. Исследование пакета java.</a:t>
            </a:r>
            <a:r>
              <a:rPr lang="en-US" dirty="0"/>
              <a:t>L</a:t>
            </a:r>
            <a:r>
              <a:rPr lang="ru-RU" dirty="0"/>
              <a:t>an</a:t>
            </a:r>
            <a:r>
              <a:rPr lang="en-US" dirty="0"/>
              <a:t>g</a:t>
            </a:r>
            <a:r>
              <a:rPr lang="ru-RU" dirty="0"/>
              <a:t>.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b="1" dirty="0"/>
              <a:t>Глава 20. Пакет </a:t>
            </a:r>
            <a:r>
              <a:rPr lang="en-US" b="1" dirty="0"/>
              <a:t>java.util,</a:t>
            </a:r>
            <a:r>
              <a:rPr lang="ru-RU" b="1" dirty="0"/>
              <a:t> ч</a:t>
            </a:r>
            <a:r>
              <a:rPr lang="en-US" b="1" dirty="0"/>
              <a:t>ac</a:t>
            </a:r>
            <a:r>
              <a:rPr lang="ru-RU" b="1" dirty="0"/>
              <a:t>ть 1: </a:t>
            </a:r>
            <a:r>
              <a:rPr lang="en-US" b="1" dirty="0"/>
              <a:t>Collections Framework</a:t>
            </a:r>
            <a:r>
              <a:rPr lang="ru-RU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6283315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Technologies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Презентация Microsoft PowerPoint.potx" id="{609A9B28-C3C5-4A63-81E1-5E429990C5D2}" vid="{9B435F38-1243-4EE4-A8B2-B8C0C01974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Programming_Technologies</Template>
  <TotalTime>6451</TotalTime>
  <Words>1919</Words>
  <Application>Microsoft Office PowerPoint</Application>
  <PresentationFormat>Широкоэкранный</PresentationFormat>
  <Paragraphs>114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Arial Nova</vt:lpstr>
      <vt:lpstr>Arial Nova Light</vt:lpstr>
      <vt:lpstr>Symbol</vt:lpstr>
      <vt:lpstr>Programming Technologies</vt:lpstr>
      <vt:lpstr>Технологии программирования</vt:lpstr>
      <vt:lpstr>Презентация PowerPoint</vt:lpstr>
      <vt:lpstr>О чем будем говорить в семестре?</vt:lpstr>
      <vt:lpstr>Эволюция языков программирования</vt:lpstr>
      <vt:lpstr>Перфокарты</vt:lpstr>
      <vt:lpstr>1GL, машинный язык или двоичный язык</vt:lpstr>
      <vt:lpstr>2GL или ассемблерный код</vt:lpstr>
      <vt:lpstr>3GL или высокоуровневые языки программирования</vt:lpstr>
      <vt:lpstr>Эволюция высокоуровневых языков программирования</vt:lpstr>
      <vt:lpstr>4GL или узкоспециализированные языки программирования</vt:lpstr>
      <vt:lpstr>5GL</vt:lpstr>
      <vt:lpstr>Байт-код и виртуальные машины</vt:lpstr>
      <vt:lpstr>Интерпретатор</vt:lpstr>
      <vt:lpstr>Байт-код</vt:lpstr>
      <vt:lpstr>Виртуальная машина</vt:lpstr>
      <vt:lpstr>Исходный код</vt:lpstr>
      <vt:lpstr>Байт-код</vt:lpstr>
      <vt:lpstr>Java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Бутенко Олег Романович</dc:creator>
  <cp:lastModifiedBy>Бутенко Олег Романович</cp:lastModifiedBy>
  <cp:revision>25</cp:revision>
  <dcterms:created xsi:type="dcterms:W3CDTF">2025-12-31T16:29:37Z</dcterms:created>
  <dcterms:modified xsi:type="dcterms:W3CDTF">2026-01-18T14:33:01Z</dcterms:modified>
</cp:coreProperties>
</file>