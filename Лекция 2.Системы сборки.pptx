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sldIdLst>
    <p:sldId id="256" r:id="rId2"/>
    <p:sldId id="268" r:id="rId3"/>
    <p:sldId id="269" r:id="rId4"/>
    <p:sldId id="258" r:id="rId5"/>
    <p:sldId id="261" r:id="rId6"/>
    <p:sldId id="282" r:id="rId7"/>
    <p:sldId id="26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7" r:id="rId22"/>
    <p:sldId id="298" r:id="rId23"/>
    <p:sldId id="299" r:id="rId24"/>
    <p:sldId id="306" r:id="rId25"/>
    <p:sldId id="300" r:id="rId26"/>
    <p:sldId id="301" r:id="rId27"/>
    <p:sldId id="302" r:id="rId28"/>
    <p:sldId id="303" r:id="rId29"/>
    <p:sldId id="304" r:id="rId30"/>
    <p:sldId id="305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C5C"/>
    <a:srgbClr val="4B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2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A5E4C-049E-705D-1F4F-1027A6BC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540000"/>
            <a:ext cx="9313200" cy="2880000"/>
          </a:xfrm>
        </p:spPr>
        <p:txBody>
          <a:bodyPr anchor="b" anchorCtr="0">
            <a:normAutofit/>
          </a:bodyPr>
          <a:lstStyle>
            <a:lvl1pPr>
              <a:defRPr sz="66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C1B733-27C6-8799-F122-BF900837E6B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40000" y="3600000"/>
            <a:ext cx="9313199" cy="1878582"/>
          </a:xfrm>
        </p:spPr>
        <p:txBody>
          <a:bodyPr>
            <a:normAutofit/>
          </a:bodyPr>
          <a:lstStyle>
            <a:lvl1pPr>
              <a:buNone/>
              <a:defRPr sz="3600" b="0">
                <a:latin typeface="Arial Nova" panose="020B0504020202020204" pitchFamily="34" charset="0"/>
              </a:defRPr>
            </a:lvl1pPr>
          </a:lstStyle>
          <a:p>
            <a:pPr lvl="0"/>
            <a:r>
              <a:rPr lang="ru-RU" dirty="0"/>
              <a:t>Образец темы лекции</a:t>
            </a:r>
          </a:p>
        </p:txBody>
      </p:sp>
    </p:spTree>
    <p:extLst>
      <p:ext uri="{BB962C8B-B14F-4D97-AF65-F5344CB8AC3E}">
        <p14:creationId xmlns:p14="http://schemas.microsoft.com/office/powerpoint/2010/main" val="91123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у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FCF0D0B-FE7F-2FBA-F295-1ED10077498C}"/>
              </a:ext>
            </a:extLst>
          </p:cNvPr>
          <p:cNvGrpSpPr>
            <a:grpSpLocks noChangeAspect="1"/>
          </p:cNvGrpSpPr>
          <p:nvPr/>
        </p:nvGrpSpPr>
        <p:grpSpPr>
          <a:xfrm>
            <a:off x="3049929" y="720000"/>
            <a:ext cx="6092143" cy="5418000"/>
            <a:chOff x="4244454" y="1872388"/>
            <a:chExt cx="3641678" cy="3238698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7D8A98C9-1BD6-8E2A-E4F5-C0F15BCD4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93" t="670" r="17893" b="851"/>
            <a:stretch>
              <a:fillRect/>
            </a:stretch>
          </p:blipFill>
          <p:spPr>
            <a:xfrm>
              <a:off x="4244454" y="2591086"/>
              <a:ext cx="1656000" cy="2520000"/>
            </a:xfrm>
            <a:prstGeom prst="rect">
              <a:avLst/>
            </a:prstGeom>
          </p:spPr>
        </p:pic>
        <p:sp>
          <p:nvSpPr>
            <p:cNvPr id="6" name="Облачко с текстом: овальное 5">
              <a:extLst>
                <a:ext uri="{FF2B5EF4-FFF2-40B4-BE49-F238E27FC236}">
                  <a16:creationId xmlns:a16="http://schemas.microsoft.com/office/drawing/2014/main" id="{A5683F8A-FD9E-8ED7-944A-9DA2423A982A}"/>
                </a:ext>
              </a:extLst>
            </p:cNvPr>
            <p:cNvSpPr/>
            <p:nvPr userDrawn="1"/>
          </p:nvSpPr>
          <p:spPr>
            <a:xfrm>
              <a:off x="5552366" y="1872388"/>
              <a:ext cx="2333766" cy="980814"/>
            </a:xfrm>
            <a:prstGeom prst="wedgeEllipseCallout">
              <a:avLst>
                <a:gd name="adj1" fmla="val -34868"/>
                <a:gd name="adj2" fmla="val 72935"/>
              </a:avLst>
            </a:prstGeom>
            <a:noFill/>
            <a:ln w="12700" cap="flat" cmpd="sng">
              <a:solidFill>
                <a:srgbClr val="002C5C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-411140 w 2333766"/>
                        <a:gd name="connsiteY0" fmla="*/ 953283 h 980814"/>
                        <a:gd name="connsiteX1" fmla="*/ 100162 w 2333766"/>
                        <a:gd name="connsiteY1" fmla="*/ 689193 h 980814"/>
                        <a:gd name="connsiteX2" fmla="*/ 1047235 w 2333766"/>
                        <a:gd name="connsiteY2" fmla="*/ 2585 h 980814"/>
                        <a:gd name="connsiteX3" fmla="*/ 2110384 w 2333766"/>
                        <a:gd name="connsiteY3" fmla="*/ 201849 h 980814"/>
                        <a:gd name="connsiteX4" fmla="*/ 1345483 w 2333766"/>
                        <a:gd name="connsiteY4" fmla="*/ 975036 h 980814"/>
                        <a:gd name="connsiteX5" fmla="*/ 355023 w 2333766"/>
                        <a:gd name="connsiteY5" fmla="*/ 842659 h 980814"/>
                        <a:gd name="connsiteX6" fmla="*/ -43382 w 2333766"/>
                        <a:gd name="connsiteY6" fmla="*/ 900183 h 980814"/>
                        <a:gd name="connsiteX7" fmla="*/ -411140 w 2333766"/>
                        <a:gd name="connsiteY7" fmla="*/ 953283 h 9808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33766" h="980814" extrusionOk="0">
                          <a:moveTo>
                            <a:pt x="-411140" y="953283"/>
                          </a:moveTo>
                          <a:cubicBezTo>
                            <a:pt x="-291143" y="824317"/>
                            <a:pt x="-7964" y="771021"/>
                            <a:pt x="100162" y="689193"/>
                          </a:cubicBezTo>
                          <a:cubicBezTo>
                            <a:pt x="-100816" y="408366"/>
                            <a:pt x="239956" y="-42487"/>
                            <a:pt x="1047235" y="2585"/>
                          </a:cubicBezTo>
                          <a:cubicBezTo>
                            <a:pt x="1399277" y="-62107"/>
                            <a:pt x="1861918" y="68470"/>
                            <a:pt x="2110384" y="201849"/>
                          </a:cubicBezTo>
                          <a:cubicBezTo>
                            <a:pt x="2626225" y="646861"/>
                            <a:pt x="2171860" y="800364"/>
                            <a:pt x="1345483" y="975036"/>
                          </a:cubicBezTo>
                          <a:cubicBezTo>
                            <a:pt x="1000772" y="937289"/>
                            <a:pt x="558191" y="910595"/>
                            <a:pt x="355023" y="842659"/>
                          </a:cubicBezTo>
                          <a:cubicBezTo>
                            <a:pt x="263009" y="894076"/>
                            <a:pt x="58400" y="849555"/>
                            <a:pt x="-43382" y="900183"/>
                          </a:cubicBezTo>
                          <a:cubicBezTo>
                            <a:pt x="-145164" y="950811"/>
                            <a:pt x="-289861" y="901273"/>
                            <a:pt x="-411140" y="95328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ru-RU" sz="1400" b="1" dirty="0">
                <a:solidFill>
                  <a:srgbClr val="002C5C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4CE1E0FC-C23E-5B7D-9740-925C75E461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7928" y="720000"/>
            <a:ext cx="3904144" cy="1640798"/>
          </a:xfrm>
        </p:spPr>
        <p:txBody>
          <a:bodyPr anchor="ctr" anchorCtr="0">
            <a:noAutofit/>
          </a:bodyPr>
          <a:lstStyle>
            <a:lvl1pPr algn="ctr">
              <a:buNone/>
              <a:defRPr sz="1400"/>
            </a:lvl1pPr>
          </a:lstStyle>
          <a:p>
            <a:pPr lvl="0"/>
            <a:r>
              <a:rPr lang="ru-RU" dirty="0"/>
              <a:t>Образец возмущения</a:t>
            </a:r>
          </a:p>
        </p:txBody>
      </p:sp>
    </p:spTree>
    <p:extLst>
      <p:ext uri="{BB962C8B-B14F-4D97-AF65-F5344CB8AC3E}">
        <p14:creationId xmlns:p14="http://schemas.microsoft.com/office/powerpoint/2010/main" val="194880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C679734-4794-20B8-6488-0A4FB168AA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400" y="5058000"/>
            <a:ext cx="10393200" cy="1260000"/>
          </a:xfrm>
          <a:prstGeom prst="rect">
            <a:avLst/>
          </a:prstGeom>
        </p:spPr>
        <p:txBody>
          <a:bodyPr anchor="ctr" anchorCtr="1"/>
          <a:lstStyle>
            <a:lvl1pPr>
              <a:defRPr sz="4400">
                <a:latin typeface="Arial Nova Light" panose="020B0304020202020204" pitchFamily="34" charset="0"/>
              </a:defRPr>
            </a:lvl1pPr>
          </a:lstStyle>
          <a:p>
            <a:r>
              <a:rPr lang="ru-RU" dirty="0"/>
              <a:t>Образец раздела лекции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88ABC3-0FA5-B3C3-A19F-A67D9299DF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51275" y="360000"/>
            <a:ext cx="4489450" cy="442800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2346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00" y="360000"/>
            <a:ext cx="11473200" cy="9000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620000"/>
            <a:ext cx="11473200" cy="487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94251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00" y="360000"/>
            <a:ext cx="11473200" cy="9000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620000"/>
            <a:ext cx="5736600" cy="487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2C62AA1-DEEC-A05F-C529-474401F2896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8400" y="1620000"/>
            <a:ext cx="5736600" cy="487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6376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400" y="360000"/>
            <a:ext cx="11473200" cy="720000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440000"/>
            <a:ext cx="11473200" cy="505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43324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дзаголовок и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E1147-6C34-C366-3E86-917D39B96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400" y="360000"/>
            <a:ext cx="11473200" cy="720000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ABD0D-3BAE-209D-0250-5F76D9C16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440000"/>
            <a:ext cx="5736600" cy="505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5A912A0-90BE-998B-D452-B3DCE2DE141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8400" y="1440000"/>
            <a:ext cx="5736600" cy="5058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35299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дзаголовок, объект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A46960-AB20-D254-F51B-70A990D48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51200" y="360000"/>
            <a:ext cx="7182000" cy="613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390751-A8D3-476E-318B-18222D637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3932237" cy="45122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55A0497-2E6C-9974-5FB4-A403A3F197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400" y="360000"/>
            <a:ext cx="3932237" cy="1260000"/>
          </a:xfrm>
        </p:spPr>
        <p:txBody>
          <a:bodyPr/>
          <a:lstStyle>
            <a:lvl1pPr>
              <a:defRPr sz="2800"/>
            </a:lvl1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0059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BFCCA98C-E916-B193-7EC7-B3B067257B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00" y="360000"/>
            <a:ext cx="11473200" cy="6138000"/>
          </a:xfr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90022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D1694-6482-36C1-8D6C-118CA8BE9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BB5422-696B-7CFE-8A40-47B03F7AB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59D40A-E635-5578-5CFB-A7EE988A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45AD5-22B4-4A04-ACDC-9E247E4F2561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39E7F9-5BCB-C38F-0BFC-1715A606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528CE-A0EE-3FD3-6155-DE197F1C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DB9E-B347-447B-BF6C-331888CA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04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80000">
              <a:schemeClr val="bg1"/>
            </a:gs>
            <a:gs pos="0">
              <a:srgbClr val="E5F8FF"/>
            </a:gs>
            <a:gs pos="100000">
              <a:srgbClr val="C8DBEA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1BB54EBD-4A78-FE50-1339-CF24E75CB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620000"/>
            <a:ext cx="11473200" cy="4878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480F1380-F6B9-9578-DC30-CBF734429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00" y="360000"/>
            <a:ext cx="11473200" cy="90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3007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002C5C"/>
          </a:solidFill>
          <a:latin typeface="Arial Nova Light" panose="020B030402020202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002C5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hailaleksseev/conferenceAbstracts/blob/main/%2B%2B%202013%20Gradle%20%7C%20%D0%95%D0%B2%D0%B3%D0%B5%D0%BD%D0%B8%D0%B8%CC%86%20%D0%91%D0%BE%D1%80%D0%B8%D1%81%D0%BE%D0%B2%20%E2%80%94%20Power%20of%20Gradle.pdf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A67FA-9D02-EE83-DDEE-37578120C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Технологии программирования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D87878-9B5B-553F-1A3C-563DD7129B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Системы сборки</a:t>
            </a:r>
          </a:p>
        </p:txBody>
      </p:sp>
    </p:spTree>
    <p:extLst>
      <p:ext uri="{BB962C8B-B14F-4D97-AF65-F5344CB8AC3E}">
        <p14:creationId xmlns:p14="http://schemas.microsoft.com/office/powerpoint/2010/main" val="369234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A6015-328E-4342-A871-8DF4C2CA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C675323-55A6-E6AD-64A4-2BD8DDF01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624" y="1919088"/>
            <a:ext cx="2768272" cy="4218912"/>
          </a:xfrm>
          <a:prstGeom prst="rect">
            <a:avLst/>
          </a:prstGeom>
        </p:spPr>
      </p:pic>
      <p:sp>
        <p:nvSpPr>
          <p:cNvPr id="9" name="Облачко с текстом: овальное 8">
            <a:extLst>
              <a:ext uri="{FF2B5EF4-FFF2-40B4-BE49-F238E27FC236}">
                <a16:creationId xmlns:a16="http://schemas.microsoft.com/office/drawing/2014/main" id="{495F7449-BB0F-40E3-599C-FBE2C2B94E46}"/>
              </a:ext>
            </a:extLst>
          </p:cNvPr>
          <p:cNvSpPr/>
          <p:nvPr/>
        </p:nvSpPr>
        <p:spPr>
          <a:xfrm>
            <a:off x="5237928" y="719999"/>
            <a:ext cx="3904144" cy="1640797"/>
          </a:xfrm>
          <a:prstGeom prst="wedgeEllipseCallout">
            <a:avLst>
              <a:gd name="adj1" fmla="val -34749"/>
              <a:gd name="adj2" fmla="val 72558"/>
            </a:avLst>
          </a:prstGeom>
          <a:noFill/>
          <a:ln w="12700">
            <a:solidFill>
              <a:srgbClr val="002C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значит: «код запускается не только в </a:t>
            </a:r>
            <a:r>
              <a:rPr lang="en-US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</a:t>
            </a:r>
            <a:r>
              <a:rPr lang="ru-RU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dirty="0">
                <a:solidFill>
                  <a:srgbClr val="002C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ru-RU" dirty="0">
              <a:solidFill>
                <a:srgbClr val="002C5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42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33781-A02F-398E-42FC-B1D1FDC2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 1: Из чего состоит приложение?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533A446-74C5-EBDA-A187-8EC02E22797A}"/>
              </a:ext>
            </a:extLst>
          </p:cNvPr>
          <p:cNvSpPr txBox="1">
            <a:spLocks/>
          </p:cNvSpPr>
          <p:nvPr/>
        </p:nvSpPr>
        <p:spPr>
          <a:xfrm>
            <a:off x="359400" y="1260000"/>
            <a:ext cx="11473200" cy="90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002C5C"/>
                </a:solidFill>
                <a:latin typeface="Arial Nova Light" panose="020B03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ru-RU" dirty="0"/>
              <a:t>Вопрос 2: Как дать возможность использовать приложение?</a:t>
            </a:r>
          </a:p>
        </p:txBody>
      </p:sp>
    </p:spTree>
    <p:extLst>
      <p:ext uri="{BB962C8B-B14F-4D97-AF65-F5344CB8AC3E}">
        <p14:creationId xmlns:p14="http://schemas.microsoft.com/office/powerpoint/2010/main" val="94806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5C0ED-AE62-D68D-01D2-F638B1E5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сборки и управления зависимостями</a:t>
            </a:r>
          </a:p>
        </p:txBody>
      </p:sp>
      <p:pic>
        <p:nvPicPr>
          <p:cNvPr id="4" name="Рисунок 3" descr="Молоток со сплошной заливкой">
            <a:extLst>
              <a:ext uri="{FF2B5EF4-FFF2-40B4-BE49-F238E27FC236}">
                <a16:creationId xmlns:a16="http://schemas.microsoft.com/office/drawing/2014/main" id="{EAFC48B4-23C0-67C8-8279-850808829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1276" y="540000"/>
            <a:ext cx="4309448" cy="4309448"/>
          </a:xfrm>
          <a:prstGeom prst="rect">
            <a:avLst/>
          </a:prstGeom>
        </p:spPr>
      </p:pic>
      <p:pic>
        <p:nvPicPr>
          <p:cNvPr id="8" name="Рисунок 7" descr="Гаечный ключ со сплошной заливкой">
            <a:extLst>
              <a:ext uri="{FF2B5EF4-FFF2-40B4-BE49-F238E27FC236}">
                <a16:creationId xmlns:a16="http://schemas.microsoft.com/office/drawing/2014/main" id="{AD3E26BE-EF29-7C14-D423-D6B8AED142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690" b="690"/>
          <a:stretch>
            <a:fillRect/>
          </a:stretch>
        </p:blipFill>
        <p:spPr>
          <a:xfrm flipH="1">
            <a:off x="3991295" y="697652"/>
            <a:ext cx="4209411" cy="4151795"/>
          </a:xfrm>
        </p:spPr>
      </p:pic>
    </p:spTree>
    <p:extLst>
      <p:ext uri="{BB962C8B-B14F-4D97-AF65-F5344CB8AC3E}">
        <p14:creationId xmlns:p14="http://schemas.microsoft.com/office/powerpoint/2010/main" val="403830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61EC583-970F-B64A-63D8-B09E09758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1980000"/>
            <a:ext cx="5736000" cy="4512250"/>
          </a:xfrm>
        </p:spPr>
        <p:txBody>
          <a:bodyPr>
            <a:noAutofit/>
          </a:bodyPr>
          <a:lstStyle/>
          <a:p>
            <a:r>
              <a:rPr lang="ru-RU" sz="2000" dirty="0"/>
              <a:t>ПО, обеспечивающее автоматизацию сборки проекта: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компилирует код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запускает тесты и определяет процент покрытия кода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выполняет статический анализ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собирает исполняемые файлы из исходного кода 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управляет зависимостями проекта: скачивает, добавляет к собранному проекту для его работоспособности.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BBE647-464F-E253-A377-EB0599B7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такое?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DF54C88-F43E-BB35-EAE8-424B44DEAC78}"/>
              </a:ext>
            </a:extLst>
          </p:cNvPr>
          <p:cNvGrpSpPr/>
          <p:nvPr/>
        </p:nvGrpSpPr>
        <p:grpSpPr>
          <a:xfrm>
            <a:off x="6096000" y="1644547"/>
            <a:ext cx="5472853" cy="4863803"/>
            <a:chOff x="2998211" y="1079999"/>
            <a:chExt cx="6096448" cy="5418001"/>
          </a:xfrm>
        </p:grpSpPr>
        <p:pic>
          <p:nvPicPr>
            <p:cNvPr id="6" name="Объект 4" descr="Изображение выглядит как черный, темнот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C39CE6A-A6CC-BC55-3312-66CFC290C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8211" y="2279088"/>
              <a:ext cx="2768272" cy="4218912"/>
            </a:xfrm>
            <a:prstGeom prst="rect">
              <a:avLst/>
            </a:prstGeom>
          </p:spPr>
        </p:pic>
        <p:sp>
          <p:nvSpPr>
            <p:cNvPr id="7" name="Облачко с текстом: овальное 6">
              <a:extLst>
                <a:ext uri="{FF2B5EF4-FFF2-40B4-BE49-F238E27FC236}">
                  <a16:creationId xmlns:a16="http://schemas.microsoft.com/office/drawing/2014/main" id="{196DF664-FBD3-8333-A8DD-A2E71F947222}"/>
                </a:ext>
              </a:extLst>
            </p:cNvPr>
            <p:cNvSpPr/>
            <p:nvPr/>
          </p:nvSpPr>
          <p:spPr>
            <a:xfrm>
              <a:off x="5190515" y="1079999"/>
              <a:ext cx="3904144" cy="1640797"/>
            </a:xfrm>
            <a:prstGeom prst="wedgeEllipseCallout">
              <a:avLst>
                <a:gd name="adj1" fmla="val -34749"/>
                <a:gd name="adj2" fmla="val 72558"/>
              </a:avLst>
            </a:prstGeom>
            <a:noFill/>
            <a:ln w="12700">
              <a:solidFill>
                <a:srgbClr val="002C5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rgbClr val="002C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А это точно нужно? Я, что, сам справиться не смогу?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964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0C99D-1227-29E4-4F89-2195A3F2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9E321C6-9F1F-8985-AE99-6CAE4164392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3163146" y="2822571"/>
            <a:ext cx="5865707" cy="606429"/>
          </a:xfrm>
        </p:spPr>
      </p:pic>
    </p:spTree>
    <p:extLst>
      <p:ext uri="{BB962C8B-B14F-4D97-AF65-F5344CB8AC3E}">
        <p14:creationId xmlns:p14="http://schemas.microsoft.com/office/powerpoint/2010/main" val="283658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A376-627C-8BBA-9513-45EA349D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71C3892-A0A2-8272-A53F-F759ADE8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Система сборки и управления зависимостями со всей функциональностью подобного ПО.</a:t>
            </a:r>
          </a:p>
          <a:p>
            <a:endParaRPr lang="ru-RU" sz="2000" dirty="0"/>
          </a:p>
          <a:p>
            <a:r>
              <a:rPr lang="ru-RU" sz="2000" dirty="0"/>
              <a:t>Maven основывается на объектной модели проекта (POM). Кроме файлов, содержащих код, и необходимых библиотеках также в эту модель входят файлы конфигурации, информация о разработчиках, дефектах, организации-разработчике, лицензиях и т.д.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C04E4CA-5421-CCEC-4C34-579EEF33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такое?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E95C67-A4FC-085A-0146-E2AB6CA8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7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B968-91DE-74FD-33C1-334E0D9B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9869742D-805C-F982-E85F-284BC5CB2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Зависимость – это какая-либо библиотека, которая необходима данному проекту для корректной работы. Библиотека представляет из себя, например: обычный Java-проект, который собрали и распространили с помощью Maven.</a:t>
            </a:r>
          </a:p>
          <a:p>
            <a:endParaRPr lang="ru-RU" sz="2000" dirty="0"/>
          </a:p>
          <a:p>
            <a:r>
              <a:rPr lang="ru-RU" sz="2000" dirty="0"/>
              <a:t>Идентификатор состоит из 3 частей:</a:t>
            </a:r>
          </a:p>
          <a:p>
            <a:pPr marL="1080000" indent="-342900">
              <a:buFont typeface="Arial" panose="020B0604020202020204" pitchFamily="34" charset="0"/>
              <a:buChar char="‒"/>
            </a:pPr>
            <a:r>
              <a:rPr lang="ru-RU" sz="2000" dirty="0"/>
              <a:t>groupId</a:t>
            </a:r>
          </a:p>
          <a:p>
            <a:pPr marL="1080000" indent="-342900">
              <a:buFont typeface="Arial" panose="020B0604020202020204" pitchFamily="34" charset="0"/>
              <a:buChar char="‒"/>
            </a:pPr>
            <a:r>
              <a:rPr lang="ru-RU" sz="2000" dirty="0"/>
              <a:t>artifactId</a:t>
            </a:r>
          </a:p>
          <a:p>
            <a:pPr marL="1080000" indent="-342900">
              <a:buFont typeface="Arial" panose="020B0604020202020204" pitchFamily="34" charset="0"/>
              <a:buChar char="‒"/>
            </a:pPr>
            <a:r>
              <a:rPr lang="ru-RU" sz="2000" dirty="0"/>
              <a:t>version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i="1" dirty="0"/>
              <a:t>Самый известный для вас на данный момент пример – это org.junit.jupiter:junit-jupiter-api:5.9.2.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1AD5A99-533F-DD69-BE25-9A41DCE1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проекта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6CB4D2-8C1D-BFC2-C1B2-731ED8300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2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F7EA3-F51C-094C-63EF-FA3B4CBB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48E8DF8-1D89-29B5-5522-9DFA0308B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Каждую зависимость можно подключить к конкретному этапу сборки проекта. 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Например, можно подключить зависимость так, чтобы она существовала в проекте только на фазе тестирования, самый яркий пример такой зависимости все тот же org.junit.jupiter:junit-jupiter-api:5.9.2. </a:t>
            </a:r>
          </a:p>
          <a:p>
            <a:r>
              <a:rPr lang="ru-RU" sz="2000" dirty="0"/>
              <a:t>То есть, данная библиотека будет находится в составе проекта только на этапе тестирования, а после того, как цикл прошел фазу тестирования будет исключена из проекта.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i="1" dirty="0"/>
              <a:t>В Maven есть 6 областей видимости: compile, provided, runtime, test, system, import.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3A3F92-C234-FE64-020A-9953A2DE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Область видимости зависимости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CB08F1-98B3-99D1-D210-ADF4AB788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16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CEC5-3ADC-6E06-0F6D-9590E4CA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EA175474-B7A9-AAA4-CBF1-891644368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compile – область видимости по умолчанию;</a:t>
            </a:r>
          </a:p>
          <a:p>
            <a:r>
              <a:rPr lang="ru-RU" sz="2000" dirty="0"/>
              <a:t>provided – аналогично типу compile, но во время выполнения зависимость подставляет JDK;</a:t>
            </a:r>
          </a:p>
          <a:p>
            <a:r>
              <a:rPr lang="ru-RU" sz="2000" dirty="0"/>
              <a:t>runtime – указывает, что зависимость не требуется во время компиляции, и будет подставлена именно во время выполнения;</a:t>
            </a:r>
          </a:p>
          <a:p>
            <a:r>
              <a:rPr lang="ru-RU" sz="2000" dirty="0"/>
              <a:t>test – указывает, что зависимость требуется только во время компиляции и выполнения;</a:t>
            </a:r>
          </a:p>
          <a:p>
            <a:r>
              <a:rPr lang="ru-RU" sz="2000" dirty="0"/>
              <a:t>system – устарела;</a:t>
            </a:r>
          </a:p>
          <a:p>
            <a:r>
              <a:rPr lang="ru-RU" sz="2000" dirty="0"/>
              <a:t>import – подставляет зависимости, указанные в отдельном блоке dependencyManagement в POM.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C6A0A15-7F37-6220-A07D-70234263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Область видимости зависимости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908973-8C77-2624-BF37-D2B349587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9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E4C2-7E30-B4A4-C25F-B675EFC6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037F689-4535-68A9-6320-E184C59B8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Maven основан на концепции жизненного цикла сборки. Пользователю нужно указать одну из фаз жизненного цикла, а Maven на основе конфигурации POM сам сделает все, что нужно и доведет проект до необходимого состояния.</a:t>
            </a:r>
          </a:p>
          <a:p>
            <a:endParaRPr lang="ru-RU" sz="2000" dirty="0"/>
          </a:p>
          <a:p>
            <a:r>
              <a:rPr lang="ru-RU" sz="2000" dirty="0"/>
              <a:t>Цикл Maven состоит из следующих этапов: clean, validate, compile, test, package, verify, install, site, deploy.</a:t>
            </a:r>
          </a:p>
          <a:p>
            <a:endParaRPr lang="ru-RU" sz="2000" dirty="0"/>
          </a:p>
          <a:p>
            <a:r>
              <a:rPr lang="ru-RU" sz="2000" dirty="0"/>
              <a:t>Которые на самом деле делятся на три отдельных жизненных цикла Maven: clean, default, site.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E0CC5B5-B574-3EA7-C0BC-6468E984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«Жизненный цикл сборки»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35CEF4-DCBD-EC98-5BFF-C937C041A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16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36E2-7A31-1784-57CE-F365B770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DB3141B-4341-F73A-BEA8-993D95F10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validate – проверить доступность всей необходимой информации для сборки проекта;</a:t>
            </a:r>
          </a:p>
          <a:p>
            <a:r>
              <a:rPr lang="ru-RU" sz="2000" dirty="0"/>
              <a:t>compile – скомпилировать исходный код;</a:t>
            </a:r>
          </a:p>
          <a:p>
            <a:r>
              <a:rPr lang="ru-RU" sz="2000" dirty="0"/>
              <a:t>test-compile – скомпилировать исходный код тестов;</a:t>
            </a:r>
          </a:p>
          <a:p>
            <a:r>
              <a:rPr lang="ru-RU" sz="2000" dirty="0"/>
              <a:t>test – запустить unit-тесты;</a:t>
            </a:r>
          </a:p>
          <a:p>
            <a:r>
              <a:rPr lang="ru-RU" sz="2000" dirty="0"/>
              <a:t>package – упаковать скомпилированный исходный код в необходимый формат (war, jar и т.д.); </a:t>
            </a:r>
          </a:p>
          <a:p>
            <a:r>
              <a:rPr lang="ru-RU" sz="2000" dirty="0"/>
              <a:t>integration-test – развернуть пакет для запуска интеграционных тестов;</a:t>
            </a:r>
          </a:p>
          <a:p>
            <a:r>
              <a:rPr lang="ru-RU" sz="2000" dirty="0"/>
              <a:t>verify – проверить собранный пакет на работоспособность;</a:t>
            </a:r>
          </a:p>
          <a:p>
            <a:r>
              <a:rPr lang="ru-RU" sz="2000" dirty="0"/>
              <a:t>install – установить проект в локальный репозиторий;</a:t>
            </a:r>
          </a:p>
          <a:p>
            <a:r>
              <a:rPr lang="ru-RU" sz="2000" dirty="0"/>
              <a:t>deploy – копировать полностью проверенный и собранный проект в удаленный репозиторий.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98D9E32-60CB-872F-36B1-A0160CE9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по умолчанию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B5BCFF-7D02-B664-F947-88B482CBF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5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2A58-EF65-E0A7-3F1E-B1A0FED1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2CB2E15-1C17-42B1-5695-9F058F3B4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pre-clean – выполнить процессы, необходимые до очистки проекта</a:t>
            </a:r>
            <a:r>
              <a:rPr lang="en-US" sz="2000" dirty="0"/>
              <a:t>;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clean – удалить все файлы, предыдущей сборки</a:t>
            </a:r>
            <a:r>
              <a:rPr lang="en-US" sz="2000" dirty="0"/>
              <a:t>;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post-clean – выполнить процессы, необходимые для завершения очистки проекта</a:t>
            </a:r>
            <a:r>
              <a:rPr lang="en-GB" sz="2000" dirty="0"/>
              <a:t>.</a:t>
            </a:r>
            <a:endParaRPr lang="ru-RU" sz="2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5EB0EBF-C1B3-E684-B6E0-260FC2F0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очистки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9B59AC-DC20-5E75-60A4-EE55A2FE1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5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C3C25-638F-4B30-458E-8B3C0562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1041875-02D4-5BB9-330B-9D16E656D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pre-site – выполнить процессы, необходимые до создания сайта проекта;</a:t>
            </a:r>
          </a:p>
          <a:p>
            <a:endParaRPr lang="ru-RU" sz="2000" dirty="0"/>
          </a:p>
          <a:p>
            <a:r>
              <a:rPr lang="ru-RU" sz="2000" dirty="0"/>
              <a:t>site – генерировать сайт проекта;</a:t>
            </a:r>
          </a:p>
          <a:p>
            <a:endParaRPr lang="ru-RU" sz="2000" dirty="0"/>
          </a:p>
          <a:p>
            <a:r>
              <a:rPr lang="ru-RU" sz="2000" dirty="0"/>
              <a:t>post-site – выполнить процессы, необходимые для завершения создания сайта и подготовки к развертыванию сайта;</a:t>
            </a:r>
          </a:p>
          <a:p>
            <a:endParaRPr lang="ru-RU" sz="2000" dirty="0"/>
          </a:p>
          <a:p>
            <a:r>
              <a:rPr lang="ru-RU" sz="2000" dirty="0"/>
              <a:t>site-deploy – развернуть сайт на указанный веб-сервер.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6294362-1870-0BD5-5F86-08C8E37E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генерации сайта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9B6B66-3AC1-1693-F553-03578F4D6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48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0BFF-1DCB-B450-D423-AC2A9D5A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7DEE57D-F1F2-274B-0CCE-1D069679C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На самом деле, когда мы даем команду к приведению состояния проекта к какой-то фазе, выполняется не сама фаза, а конкретные цели, которые в ней заложены. То есть, исполняемыми «методами» являются именно цели.</a:t>
            </a:r>
          </a:p>
          <a:p>
            <a:endParaRPr lang="ru-RU" sz="2000" dirty="0"/>
          </a:p>
          <a:p>
            <a:r>
              <a:rPr lang="ru-RU" sz="2000" dirty="0"/>
              <a:t>Например, есть фаза Maven site, мы можем ее вызвать командой mvn site, но на самом деле выполняется цель этой фазы, которая называется так mvn site:site.</a:t>
            </a:r>
          </a:p>
          <a:p>
            <a:endParaRPr lang="ru-RU" sz="2000" dirty="0"/>
          </a:p>
          <a:p>
            <a:r>
              <a:rPr lang="ru-RU" sz="2000" dirty="0"/>
              <a:t>Фазы – это обертка, а для выполнения команд используются цели.</a:t>
            </a:r>
          </a:p>
          <a:p>
            <a:endParaRPr lang="ru-RU" sz="2000" dirty="0"/>
          </a:p>
          <a:p>
            <a:r>
              <a:rPr lang="ru-RU" sz="2000" i="1" dirty="0"/>
              <a:t>Посмотреть, какие цели закреплены за каждой фазой мы можем командой:</a:t>
            </a:r>
          </a:p>
          <a:p>
            <a:r>
              <a:rPr lang="ru-RU" sz="2000" i="1" dirty="0"/>
              <a:t>	mvn help:describe -Dcmd=PHASENAME.</a:t>
            </a:r>
          </a:p>
          <a:p>
            <a:endParaRPr lang="ru-RU" sz="2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60F45B-278D-9372-73F2-234D133E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</a:t>
            </a:r>
            <a:r>
              <a:rPr lang="en-US" dirty="0"/>
              <a:t>Maven</a:t>
            </a:r>
            <a:endParaRPr lang="ru-RU" dirty="0"/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A8BDB3-A032-20E2-1774-FBFA3F16C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33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1862-E582-5280-7056-3546EC76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97B4BE2-B8AF-FD35-06DD-B7194D4B8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Плагины Maven – это вторая после зависимостей сущность данного инструмента. Если зависимость выступает статической библиотекой, которая просто присутствует или отсутствует в проекте, то плагин – это, грубо говоря, метод, который совершает какие-то действия.</a:t>
            </a:r>
          </a:p>
          <a:p>
            <a:endParaRPr lang="ru-RU" sz="2000" dirty="0"/>
          </a:p>
          <a:p>
            <a:r>
              <a:rPr lang="ru-RU" sz="2000" dirty="0"/>
              <a:t>На самом деле, фазы – это и есть плагины, просто вшитые в Maven по умолчанию. Также есть еще множество различных плагинов для различных целей. А еще вы можете написать собственный плагин, необходимый именно вашему проекту.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i="1" dirty="0"/>
          </a:p>
          <a:p>
            <a:r>
              <a:rPr lang="ru-RU" sz="2000" i="1" dirty="0"/>
              <a:t>А, если быть совсем точными, то плагины – это группа целей, так как мы уже знаем, что за выполнение команд отвечают именно цели.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9D84840-092B-0719-C3FD-B765E1A0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Плагины </a:t>
            </a:r>
            <a:r>
              <a:rPr lang="en-US" dirty="0"/>
              <a:t>Maven</a:t>
            </a:r>
            <a:endParaRPr lang="ru-RU" dirty="0"/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76120C-2232-6830-846B-ECF123AC1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17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6B14-3A09-6340-ADFA-76EBD7D9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42F637E4-3A4D-A47B-0BBB-716404B7F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b="1" dirty="0"/>
              <a:t>org.apache.maven.plugins:maven-jar-plugin:2.6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Данный плагин отвечает за генерацию документации в формате JavaDoc из исходного кода вашего проекта.</a:t>
            </a:r>
          </a:p>
          <a:p>
            <a:r>
              <a:rPr lang="ru-RU" sz="2000" dirty="0"/>
              <a:t>У плагинов ровно также есть groupId, artifactId, version.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i="1" dirty="0"/>
              <a:t>Данный плагин отвечает за генерацию документации в формате JavaDoc из исходного кода вашего проекта.</a:t>
            </a:r>
          </a:p>
          <a:p>
            <a:endParaRPr lang="ru-RU" sz="2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7DB81A8-E92F-8F73-4210-7373C7FD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727A81-493E-4B84-BABE-914978A4C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52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4B15E-6138-7FCF-F265-91215DC6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43CC33F0-8B66-B712-CE22-FB6FE6E26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POM – это одновременно и объектная модель объекта, и файл pom.xml, в котором хранится метаинформация о проекте, информация о зависимостях и описаны необходимые плагины.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Ознакомиться с примером </a:t>
            </a:r>
            <a:r>
              <a:rPr lang="en-US" sz="2000" dirty="0"/>
              <a:t>pom.xml</a:t>
            </a:r>
            <a:r>
              <a:rPr lang="en-GB" sz="2000" dirty="0"/>
              <a:t> </a:t>
            </a:r>
            <a:r>
              <a:rPr lang="ru-RU" sz="2000" dirty="0"/>
              <a:t>можете самостоятельно:</a:t>
            </a:r>
          </a:p>
          <a:p>
            <a:r>
              <a:rPr lang="ru-RU" sz="2000" dirty="0"/>
              <a:t>https://drive.google.com/file/d/14maqANo6l4DXARTZiRsMBTkMHkR4ZndK/view?usp=sharing</a:t>
            </a:r>
          </a:p>
          <a:p>
            <a:endParaRPr lang="ru-RU" sz="2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59061CB-E72F-6F27-9761-D5B14D8F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РОМ</a:t>
            </a:r>
          </a:p>
        </p:txBody>
      </p:sp>
      <p:pic>
        <p:nvPicPr>
          <p:cNvPr id="2" name="Рисунок 1" descr="Изображение выглядит как Шрифт, графический дизайн, Графика, руч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16830B-1E6E-BC65-52F0-6A87CA2F2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" b="436"/>
          <a:stretch>
            <a:fillRect/>
          </a:stretch>
        </p:blipFill>
        <p:spPr>
          <a:xfrm>
            <a:off x="9570720" y="6258466"/>
            <a:ext cx="2261281" cy="2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63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C900-9BF7-E7DB-9D44-EE0D7B74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B6FDAE8-C5B1-EB00-E9B4-D748A009F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58" y="1629000"/>
            <a:ext cx="1030588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43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0B1F-C3F6-08B3-E1A0-8826D6371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49EE7C90-A080-4025-35BE-165B8F5A5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Система сборки и управления зависимостями со всей функциональностью подобного ПО и открытым исходным кодом.</a:t>
            </a:r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помогает автоматизировать широкий спектр сценариев сборки ПО, используя встроенные функции, сторонние плагины или пользовательскую логику сборки;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предоставляет высокоуровневый, декларативный и выразительный язык сборки, который упрощает чтение и написание логики сборки;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обеспечивает надежные результаты, используя такие оптимизации, как инкрементальные сборки, кэширование сборок и параллельное выполнение;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поддерживает Android, Java, Kotlin Multiplatform, Groovy, Scala, JavaScript и C/C++.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7BF1E4B-A3B0-4640-4D15-51928BB1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такое?</a:t>
            </a:r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253C6FE-C130-B1C2-3FF8-603B3A5AE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94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EB05-FFF8-EB1B-36D7-F6CF0FA3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2203C46-FA87-8B61-FF80-1C89312EA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Зависимость в терминологии Gradle – это: библиотека; проект, (многомодульный проект); локальный файл, (.jar) - необходимые данному проекту для корректной работы.</a:t>
            </a:r>
          </a:p>
          <a:p>
            <a:r>
              <a:rPr lang="ru-RU" sz="2000" dirty="0"/>
              <a:t>Идентификатор состоит из 3 частей:</a:t>
            </a:r>
          </a:p>
          <a:p>
            <a:pPr marL="1080000" indent="-342900">
              <a:buFont typeface="Arial" panose="020B0604020202020204" pitchFamily="34" charset="0"/>
              <a:buChar char="‒"/>
            </a:pPr>
            <a:r>
              <a:rPr lang="ru-RU" sz="2000" dirty="0"/>
              <a:t>groupId</a:t>
            </a:r>
          </a:p>
          <a:p>
            <a:pPr marL="1080000" indent="-342900">
              <a:buFont typeface="Arial" panose="020B0604020202020204" pitchFamily="34" charset="0"/>
              <a:buChar char="‒"/>
            </a:pPr>
            <a:r>
              <a:rPr lang="ru-RU" sz="2000" dirty="0"/>
              <a:t>artifactId</a:t>
            </a:r>
          </a:p>
          <a:p>
            <a:pPr marL="1080000" indent="-342900">
              <a:buFont typeface="Arial" panose="020B0604020202020204" pitchFamily="34" charset="0"/>
              <a:buChar char="‒"/>
            </a:pPr>
            <a:r>
              <a:rPr lang="ru-RU" sz="2000" dirty="0"/>
              <a:t>version</a:t>
            </a:r>
          </a:p>
          <a:p>
            <a:endParaRPr lang="ru-RU" sz="2000" i="1" dirty="0"/>
          </a:p>
          <a:p>
            <a:endParaRPr lang="ru-RU" sz="2000" i="1" dirty="0"/>
          </a:p>
          <a:p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dependencies {</a:t>
            </a:r>
            <a:b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</a:b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Mongolian Baiti" panose="03000500000000000000" pitchFamily="66" charset="0"/>
              </a:rPr>
              <a:t>testImplementation</a:t>
            </a: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(platform("org.junit:junit-bom:5.10.0"))</a:t>
            </a:r>
            <a:b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</a:b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Mongolian Baiti" panose="03000500000000000000" pitchFamily="66" charset="0"/>
              </a:rPr>
              <a:t>testImplementation</a:t>
            </a: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("</a:t>
            </a:r>
            <a:r>
              <a:rPr lang="en-US" sz="1600" dirty="0" err="1">
                <a:latin typeface="Consolas" panose="020B0609020204030204" pitchFamily="49" charset="0"/>
                <a:cs typeface="Mongolian Baiti" panose="03000500000000000000" pitchFamily="66" charset="0"/>
              </a:rPr>
              <a:t>org.junit.jupiter:junit-jupiter</a:t>
            </a: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")</a:t>
            </a:r>
            <a:b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</a:b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Mongolian Baiti" panose="03000500000000000000" pitchFamily="66" charset="0"/>
              </a:rPr>
              <a:t>compileOnly</a:t>
            </a: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("org.projectlombok:lombok:1.18.36")</a:t>
            </a:r>
            <a:b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</a:br>
            <a:r>
              <a:rPr lang="en-US" sz="1600" dirty="0">
                <a:latin typeface="Consolas" panose="020B0609020204030204" pitchFamily="49" charset="0"/>
                <a:cs typeface="Mongolian Baiti" panose="03000500000000000000" pitchFamily="66" charset="0"/>
              </a:rPr>
              <a:t>}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68084C3-79F2-4227-323B-FAB5034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</a:t>
            </a:r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39525D6-E8CC-165F-A171-A8417DDC8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03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FDD2-5E99-14C3-D2F1-45409CF7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EF03CF19-779B-0014-B641-B6D348B7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implementation – зависимости, необходимые, как для компиляции, так и для выполнения;</a:t>
            </a:r>
          </a:p>
          <a:p>
            <a:r>
              <a:rPr lang="ru-RU" sz="2000" dirty="0" err="1"/>
              <a:t>api</a:t>
            </a:r>
            <a:r>
              <a:rPr lang="ru-RU" sz="2000" dirty="0"/>
              <a:t> – открытый “implementation”;</a:t>
            </a:r>
          </a:p>
          <a:p>
            <a:r>
              <a:rPr lang="ru-RU" sz="2000" dirty="0" err="1"/>
              <a:t>compileOnly</a:t>
            </a:r>
            <a:r>
              <a:rPr lang="ru-RU" sz="2000" dirty="0"/>
              <a:t> – зависимости, необходимые только для компиляции;</a:t>
            </a:r>
          </a:p>
          <a:p>
            <a:r>
              <a:rPr lang="ru-RU" sz="2000" dirty="0" err="1"/>
              <a:t>compileOnlyApi</a:t>
            </a:r>
            <a:r>
              <a:rPr lang="ru-RU" sz="2000" dirty="0"/>
              <a:t> – открытый “</a:t>
            </a:r>
            <a:r>
              <a:rPr lang="ru-RU" sz="2000" dirty="0" err="1"/>
              <a:t>compileOnly</a:t>
            </a:r>
            <a:r>
              <a:rPr lang="ru-RU" sz="2000" dirty="0"/>
              <a:t>”;</a:t>
            </a:r>
          </a:p>
          <a:p>
            <a:r>
              <a:rPr lang="ru-RU" sz="2000" dirty="0" err="1"/>
              <a:t>runtimeOnly</a:t>
            </a:r>
            <a:r>
              <a:rPr lang="ru-RU" sz="2000" dirty="0"/>
              <a:t> – зависимости, необходимые только для выполнения;</a:t>
            </a:r>
          </a:p>
          <a:p>
            <a:r>
              <a:rPr lang="ru-RU" sz="2000" dirty="0" err="1"/>
              <a:t>testImplementation</a:t>
            </a:r>
            <a:r>
              <a:rPr lang="ru-RU" sz="2000" dirty="0"/>
              <a:t> – зависимости, необходимые для компиляции и выполнения тестов;</a:t>
            </a:r>
          </a:p>
          <a:p>
            <a:r>
              <a:rPr lang="ru-RU" sz="2000" dirty="0" err="1"/>
              <a:t>testCompileOnly</a:t>
            </a:r>
            <a:r>
              <a:rPr lang="ru-RU" sz="2000" dirty="0"/>
              <a:t> – зависимости, необходимые только для компиляции тестов;</a:t>
            </a:r>
          </a:p>
          <a:p>
            <a:r>
              <a:rPr lang="ru-RU" sz="2000" dirty="0" err="1"/>
              <a:t>testRuntimeOnly</a:t>
            </a:r>
            <a:r>
              <a:rPr lang="ru-RU" sz="2000" dirty="0"/>
              <a:t> – зависимости, необходимые только для выполнения тестов.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5EB4AFA-3CDE-DCC0-1C31-74DACC43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Области видимости зависимостей</a:t>
            </a:r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1C2A2B-19C6-7A0D-602C-EAE23A162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54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E2C8-694D-DED4-57E1-403C26650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8A49FF1-C1BD-8201-CD73-668A201A8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Gradle не имеет собственных репозиториев и в качестве источника зависимостей использует Maven и Ivy репозитории. </a:t>
            </a:r>
          </a:p>
          <a:p>
            <a:r>
              <a:rPr lang="ru-RU" sz="2000" dirty="0"/>
              <a:t>При этом интерфейс для работы с репозиториями не отличается на базовом уровне, более развёрнуто об отличиях параметров вы можете узнать по ссылкам MavenArtifactRepository и IvyArtifactRepository.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E43D4E2-2A70-93C8-982F-5B0E47E2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Репозитории зависимостей</a:t>
            </a:r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2B8BD06-8709-9DF4-1491-0356E0548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33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6C4C-CAE9-906F-8820-99A99798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3ED130D-AA9B-09DB-B026-E2FFC3F0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«Цикл» сборки </a:t>
            </a:r>
            <a:r>
              <a:rPr lang="en-US" dirty="0"/>
              <a:t>Gradle</a:t>
            </a:r>
            <a:endParaRPr lang="ru-RU" dirty="0"/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5928B04-CA79-1B2F-E481-4E75494E5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9F439D-4299-8ECC-D897-97FD95509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3622" y="360000"/>
            <a:ext cx="2784756" cy="61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8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1A0C-DBEA-ED19-A76C-99358C61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7E84E1D-70B2-CB48-0851-6D3AD02D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B30A7F1-F4E4-FF66-92E6-CEF89EAB8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F92598-787B-B4D0-55E2-3DC1A706E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275" y="360000"/>
            <a:ext cx="3757451" cy="61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73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47DC0-244B-BB43-97CB-CAA7AEF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1A2098E-6CA6-1714-4931-2E61ECB15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Это скрипт, который запускает задачи Gradle с объявленной версией. Если объявленная версия не установлена, </a:t>
            </a:r>
            <a:r>
              <a:rPr lang="ru-RU" sz="2000" dirty="0" err="1"/>
              <a:t>Wrapper</a:t>
            </a:r>
            <a:r>
              <a:rPr lang="ru-RU" sz="2000" dirty="0"/>
              <a:t> устанавливает требуемую.</a:t>
            </a:r>
          </a:p>
          <a:p>
            <a:endParaRPr lang="ru-RU" sz="2000" dirty="0"/>
          </a:p>
          <a:p>
            <a:r>
              <a:rPr lang="ru-RU" sz="2000" dirty="0"/>
              <a:t>Преимущества: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создание проектов с помощью </a:t>
            </a:r>
            <a:r>
              <a:rPr lang="ru-RU" sz="2000" dirty="0" err="1"/>
              <a:t>Wrapper</a:t>
            </a:r>
            <a:r>
              <a:rPr lang="ru-RU" sz="2000" dirty="0"/>
              <a:t> локально позволяет вам предварительно не устанавливать Gradle;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у каждого участника команды и на конвейерах CI проект собирается под одной и той же версией Gradle;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легкое обновление до новой версии Gradle путем изменения настроек </a:t>
            </a:r>
            <a:r>
              <a:rPr lang="ru-RU" sz="2000" dirty="0" err="1"/>
              <a:t>Wrapper</a:t>
            </a:r>
            <a:r>
              <a:rPr lang="ru-RU" sz="2000" dirty="0"/>
              <a:t>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8E4B6FC-8ADD-F6B9-F766-56E79224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</a:t>
            </a:r>
            <a:endParaRPr lang="ru-RU" dirty="0"/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3DA5326-1F87-EFBF-EC23-7A1E72DD6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76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EE88-C608-F7D9-1F90-7E2114BDD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128B62B9-22EB-066E-2CD5-2699811AA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da-DK" sz="2000" dirty="0">
                <a:latin typeface="Consolas" panose="020B0609020204030204" pitchFamily="49" charset="0"/>
                <a:cs typeface="Mongolian Baiti" panose="03000500000000000000" pitchFamily="66" charset="0"/>
              </a:rPr>
              <a:t>#Sat Feb 07 12:09:30 MSK 2026</a:t>
            </a:r>
          </a:p>
          <a:p>
            <a:r>
              <a:rPr lang="da-DK" sz="2000" dirty="0">
                <a:latin typeface="Consolas" panose="020B0609020204030204" pitchFamily="49" charset="0"/>
                <a:cs typeface="Mongolian Baiti" panose="03000500000000000000" pitchFamily="66" charset="0"/>
              </a:rPr>
              <a:t>distributionBase=GRADLE_USER_HOME</a:t>
            </a:r>
          </a:p>
          <a:p>
            <a:r>
              <a:rPr lang="da-DK" sz="2000" dirty="0">
                <a:latin typeface="Consolas" panose="020B0609020204030204" pitchFamily="49" charset="0"/>
                <a:cs typeface="Mongolian Baiti" panose="03000500000000000000" pitchFamily="66" charset="0"/>
              </a:rPr>
              <a:t>distributionPath=wrapper/dists</a:t>
            </a:r>
          </a:p>
          <a:p>
            <a:r>
              <a:rPr lang="da-DK" sz="2000" dirty="0">
                <a:latin typeface="Consolas" panose="020B0609020204030204" pitchFamily="49" charset="0"/>
                <a:cs typeface="Mongolian Baiti" panose="03000500000000000000" pitchFamily="66" charset="0"/>
              </a:rPr>
              <a:t>distributionUrl=https\://services.gradle.org/distributions/gradle-8.12-bin.zip</a:t>
            </a:r>
          </a:p>
          <a:p>
            <a:r>
              <a:rPr lang="da-DK" sz="2000" dirty="0">
                <a:latin typeface="Consolas" panose="020B0609020204030204" pitchFamily="49" charset="0"/>
                <a:cs typeface="Mongolian Baiti" panose="03000500000000000000" pitchFamily="66" charset="0"/>
              </a:rPr>
              <a:t>zipStoreBase=GRADLE_USER_HOME</a:t>
            </a:r>
          </a:p>
          <a:p>
            <a:r>
              <a:rPr lang="da-DK" sz="2000" dirty="0">
                <a:latin typeface="Consolas" panose="020B0609020204030204" pitchFamily="49" charset="0"/>
                <a:cs typeface="Mongolian Baiti" panose="03000500000000000000" pitchFamily="66" charset="0"/>
              </a:rPr>
              <a:t>zipStorePath=wrapper/dists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9132B81-26ED-74FC-E380-A1C0F5FD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wrapper</a:t>
            </a:r>
            <a:endParaRPr lang="ru-RU" dirty="0"/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7279E4C-777C-3853-B37C-624D814B6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336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12808-AB24-FB3D-936B-7CDDE3B6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02FB2A-97E8-71C3-72F1-B8DFE74C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build.gradle</a:t>
            </a:r>
            <a:endParaRPr lang="ru-RU" dirty="0"/>
          </a:p>
        </p:txBody>
      </p:sp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69E706A-131C-6D61-178A-E201231B5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5" y="5825066"/>
            <a:ext cx="1909975" cy="66718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5B9D45-9347-0161-F9F4-EFFD85E67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548" y="690180"/>
            <a:ext cx="5572903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29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8273-3004-479F-A236-1E84242A7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E21D16EE-C807-CC96-52AB-CC47A0543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5736001" cy="451225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производительность, </a:t>
            </a:r>
            <a:br>
              <a:rPr lang="ru-RU" sz="2000" dirty="0"/>
            </a:br>
            <a:r>
              <a:rPr lang="ru-RU" sz="2000" dirty="0"/>
              <a:t>(инкрементальные сборки, кэш);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гибкость;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более глубокое управление зависимостями;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поддержка нескольких языков программирования;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доменно-специфический язык программирования: DSL.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46AB706-DE88-12A1-823F-19A35875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Gradle</a:t>
            </a:r>
            <a:endParaRPr lang="ru-RU" dirty="0"/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64D54572-E638-C88B-2B91-B76C2A348603}"/>
              </a:ext>
            </a:extLst>
          </p:cNvPr>
          <p:cNvSpPr txBox="1">
            <a:spLocks/>
          </p:cNvSpPr>
          <p:nvPr/>
        </p:nvSpPr>
        <p:spPr>
          <a:xfrm>
            <a:off x="6096000" y="360000"/>
            <a:ext cx="3932237" cy="126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002C5C"/>
                </a:solidFill>
                <a:latin typeface="Arial Nova Light" panose="020B03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Maven</a:t>
            </a:r>
            <a:endParaRPr lang="ru-RU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F3643BEB-42EE-B8A0-B7E5-E277166E3D50}"/>
              </a:ext>
            </a:extLst>
          </p:cNvPr>
          <p:cNvSpPr txBox="1">
            <a:spLocks/>
          </p:cNvSpPr>
          <p:nvPr/>
        </p:nvSpPr>
        <p:spPr>
          <a:xfrm>
            <a:off x="6095999" y="1979999"/>
            <a:ext cx="5736001" cy="45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02C5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rgbClr val="002C5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rgbClr val="002C5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002C5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002C5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проще в освоении;</a:t>
            </a:r>
          </a:p>
          <a:p>
            <a:pPr marL="342900" indent="-342900">
              <a:buFont typeface="Arial" panose="020B0604020202020204" pitchFamily="34" charset="0"/>
              <a:buChar char="‒"/>
            </a:pPr>
            <a:r>
              <a:rPr lang="ru-RU" sz="2000" dirty="0"/>
              <a:t>набор поведений и настроек по умолчанию.</a:t>
            </a:r>
          </a:p>
        </p:txBody>
      </p:sp>
    </p:spTree>
    <p:extLst>
      <p:ext uri="{BB962C8B-B14F-4D97-AF65-F5344CB8AC3E}">
        <p14:creationId xmlns:p14="http://schemas.microsoft.com/office/powerpoint/2010/main" val="933388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86368-A24D-39EB-DEA4-B3155F0C5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215857A-C1EF-46B6-67D2-1CD8BDD90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999" y="1980000"/>
            <a:ext cx="11473200" cy="4512250"/>
          </a:xfrm>
        </p:spPr>
        <p:txBody>
          <a:bodyPr>
            <a:noAutofit/>
          </a:bodyPr>
          <a:lstStyle/>
          <a:p>
            <a:r>
              <a:rPr lang="ru-RU" sz="2000" dirty="0"/>
              <a:t>Доклад Евгения Борисова. </a:t>
            </a:r>
            <a:r>
              <a:rPr lang="en-US" sz="2000" dirty="0"/>
              <a:t>Power of Gradle</a:t>
            </a:r>
            <a:r>
              <a:rPr lang="ru-RU" sz="2000" dirty="0"/>
              <a:t>.</a:t>
            </a:r>
          </a:p>
          <a:p>
            <a:r>
              <a:rPr lang="en-US" sz="2000" dirty="0">
                <a:hlinkClick r:id="rId2"/>
              </a:rPr>
              <a:t>https://github.com/mihailaleksseev/conferenceAbstracts/blob/main/%2B%2B%202013%20Gradle%20%7C%20%D0%95%D0%B2%D0%B3%D0%B5%D0%BD%D0%B8%D0%B8%CC%86%20%D0%91%D0%BE%D1%80%D0%B8%D1%81%D0%BE%D0%B2%20%E2%80%94%20Power%20of%20Gradle.pdf</a:t>
            </a:r>
            <a:endParaRPr lang="en-US" sz="2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DA17FD3-0F03-6424-3230-F05912B9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не лень…</a:t>
            </a:r>
          </a:p>
        </p:txBody>
      </p:sp>
    </p:spTree>
    <p:extLst>
      <p:ext uri="{BB962C8B-B14F-4D97-AF65-F5344CB8AC3E}">
        <p14:creationId xmlns:p14="http://schemas.microsoft.com/office/powerpoint/2010/main" val="1548958759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Technologies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Презентация Microsoft PowerPoint.potx" id="{609A9B28-C3C5-4A63-81E1-5E429990C5D2}" vid="{9B435F38-1243-4EE4-A8B2-B8C0C01974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Programming_Technologies</Template>
  <TotalTime>6567</TotalTime>
  <Words>1518</Words>
  <Application>Microsoft Office PowerPoint</Application>
  <PresentationFormat>Широкоэкранный</PresentationFormat>
  <Paragraphs>165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Arial Nova</vt:lpstr>
      <vt:lpstr>Arial Nova Light</vt:lpstr>
      <vt:lpstr>Consolas</vt:lpstr>
      <vt:lpstr>Programming Technologies</vt:lpstr>
      <vt:lpstr>Технологии программирования</vt:lpstr>
      <vt:lpstr>Презентация PowerPoint</vt:lpstr>
      <vt:lpstr>Вопрос 1: Из чего состоит приложение?</vt:lpstr>
      <vt:lpstr>Инструменты сборки и управления зависимостями</vt:lpstr>
      <vt:lpstr>Что это такое?</vt:lpstr>
      <vt:lpstr>Презентация PowerPoint</vt:lpstr>
      <vt:lpstr>Что это такое?</vt:lpstr>
      <vt:lpstr>Зависимость проекта</vt:lpstr>
      <vt:lpstr>Область видимости зависимости</vt:lpstr>
      <vt:lpstr>Область видимости зависимости</vt:lpstr>
      <vt:lpstr>«Жизненный цикл сборки»</vt:lpstr>
      <vt:lpstr>Цикл по умолчанию</vt:lpstr>
      <vt:lpstr>Цикл очистки</vt:lpstr>
      <vt:lpstr>Цикл генерации сайта</vt:lpstr>
      <vt:lpstr>Цели Maven</vt:lpstr>
      <vt:lpstr>Плагины Maven</vt:lpstr>
      <vt:lpstr>Пример</vt:lpstr>
      <vt:lpstr>РОМ</vt:lpstr>
      <vt:lpstr>Презентация PowerPoint</vt:lpstr>
      <vt:lpstr>Что это такое?</vt:lpstr>
      <vt:lpstr>Зависимость</vt:lpstr>
      <vt:lpstr>Области видимости зависимостей</vt:lpstr>
      <vt:lpstr>Репозитории зависимостей</vt:lpstr>
      <vt:lpstr>«Цикл» сборки Gradle</vt:lpstr>
      <vt:lpstr>Структура проекта</vt:lpstr>
      <vt:lpstr>Wrapper</vt:lpstr>
      <vt:lpstr>Конфигурация wrapper</vt:lpstr>
      <vt:lpstr>build.gradle</vt:lpstr>
      <vt:lpstr>Gradle</vt:lpstr>
      <vt:lpstr>Если не лень…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Бутенко Олег Романович</dc:creator>
  <cp:lastModifiedBy>Бутенко Олег Романович</cp:lastModifiedBy>
  <cp:revision>27</cp:revision>
  <dcterms:created xsi:type="dcterms:W3CDTF">2025-12-31T16:29:37Z</dcterms:created>
  <dcterms:modified xsi:type="dcterms:W3CDTF">2026-02-11T14:35:24Z</dcterms:modified>
</cp:coreProperties>
</file>